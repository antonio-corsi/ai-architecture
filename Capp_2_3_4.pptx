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7851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9672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AI-Enabled Solutions • LLMs • Prompt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Designing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AI-Enabled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Solutions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520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8E6F5"/>
                </a:solidFill>
              </a:rPr>
              <a:t>LLMs • Prompt Engineering • Prompt Management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43400" y="10515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</a:rPr>
              <a:t>A practical decision framework for business and technical teams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389120" y="2194560"/>
            <a:ext cx="530352" cy="5303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30428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4920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Choose the right problem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89120" y="3063240"/>
            <a:ext cx="530352" cy="53035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317296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31546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Understand the model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389120" y="3931920"/>
            <a:ext cx="530352" cy="530352"/>
          </a:xfrm>
          <a:prstGeom prst="ellipse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404164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40233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Engineer the prompt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389120" y="4800600"/>
            <a:ext cx="530352" cy="530352"/>
          </a:xfrm>
          <a:prstGeom prst="ellipse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49103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4892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Manage quality at scale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70832" y="59161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</a:rPr>
              <a:t>Enterprise AI • Banking-oriented examples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COURSE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8043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questions guide the chapter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18335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From business need to governed AI solution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77771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C8D1D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777710"/>
            <a:ext cx="64008" cy="356616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94230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1. Should we use AI?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86968" y="2344638"/>
            <a:ext cx="3127248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Frame the problem, inspect the data, understand the users and workflow, evaluate risks, and define measurable success.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0832" y="177771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C8D1DC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1777710"/>
            <a:ext cx="64008" cy="3566160"/>
          </a:xfrm>
          <a:prstGeom prst="rect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94230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2. What can the LLM really do?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572000" y="2344638"/>
            <a:ext cx="3127248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Understand tokens, context, training, inference, strengths and failure modes. Design around limits rather than hoping they disappear.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77771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C8D1D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777710"/>
            <a:ext cx="64008" cy="3566160"/>
          </a:xfrm>
          <a:prstGeom prst="rect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94230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3. How do we make it reliable?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247888" y="2344638"/>
            <a:ext cx="3127248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Use structured prompts, examples, schemas, test sets, versioning, evaluation and controlled deployment.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1792" y="61264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</a:rPr>
              <a:t>The same decision framework will be reused across later AI use cases in the course.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  <p:txBody>
          <a:bodyPr/>
          <a:lstStyle/>
          <a:p>
            <a:r>
              <a:rPr lang="it-IT" dirty="0"/>
              <a:t> </a:t>
            </a:r>
            <a:endParaRPr lang="en-GB" dirty="0"/>
          </a:p>
        </p:txBody>
      </p:sp>
      <p:sp>
        <p:nvSpPr>
          <p:cNvPr id="3" name="Text 1"/>
          <p:cNvSpPr/>
          <p:nvPr/>
        </p:nvSpPr>
        <p:spPr>
          <a:xfrm>
            <a:off x="749808" y="67128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DESIGNING AI SOLUTIONS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8043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is a means, not the objective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18335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Start with the business outcome, not with the model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68627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3B3B"/>
                </a:solidFill>
              </a:rPr>
              <a:t>A weak starting point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347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2033"/>
                </a:solidFill>
              </a:rPr>
              <a:t>“We need a chatbot.”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0" y="2445222"/>
            <a:ext cx="1920240" cy="0"/>
          </a:xfrm>
          <a:prstGeom prst="line">
            <a:avLst/>
          </a:prstGeom>
          <a:noFill/>
          <a:ln w="2540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806440" y="168627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</a:rPr>
              <a:t>A stronger starting point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06440" y="209775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“Reduce average handling time for mortgage-document questions by 30% while preserving compliance.”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" y="410943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C8D1DC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4109430"/>
            <a:ext cx="64008" cy="132588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27402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Technology comes later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32688" y="4676358"/>
            <a:ext cx="28529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AI, rules, workflow redesign, search, analytics—or a combination.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80560" y="410943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C8D1DC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4109430"/>
            <a:ext cx="64008" cy="1325880"/>
          </a:xfrm>
          <a:prstGeom prst="rect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427402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The baseline matters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681728" y="4676358"/>
            <a:ext cx="28529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Compare against the current process, not against a perfect hypothetical system.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0" y="410943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C8D1D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0" y="4109430"/>
            <a:ext cx="64008" cy="1325880"/>
          </a:xfrm>
          <a:prstGeom prst="rect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0768" y="427402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Value must be observable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430768" y="4676358"/>
            <a:ext cx="28529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A model is useful only if it improves a user or business outcome.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16CE600A-B479-16F9-777D-E0AD8A9F7B4C}"/>
              </a:ext>
            </a:extLst>
          </p:cNvPr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OBJECTIVE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DECISION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68043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is AI the right answer?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18335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A first-pass decision tree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68627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86270"/>
            <a:ext cx="64008" cy="105156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85086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1. Is the task well defined?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24128" y="2253198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Clear inputs, desired outputs and constraints?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68627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86270"/>
            <a:ext cx="64008" cy="105156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85086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2. Is there usable data?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864608" y="2253198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Examples, documents, signals or feedback?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58200" y="168627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1686270"/>
            <a:ext cx="64008" cy="105156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59368" y="185086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3. Is probabilistic output acceptable?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659368" y="2253198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Can errors be detected, corrected or contained?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703320" y="2189190"/>
            <a:ext cx="868680" cy="0"/>
          </a:xfrm>
          <a:prstGeom prst="line">
            <a:avLst/>
          </a:prstGeom>
          <a:noFill/>
          <a:ln w="2286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98080" y="2189190"/>
            <a:ext cx="868680" cy="0"/>
          </a:xfrm>
          <a:prstGeom prst="line">
            <a:avLst/>
          </a:prstGeom>
          <a:noFill/>
          <a:ln w="2286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611880" y="186915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B57"/>
                </a:solidFill>
              </a:rPr>
              <a:t>YES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60920" y="186915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B57"/>
                </a:solidFill>
              </a:rPr>
              <a:t>YES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0" y="401799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C8D1DC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0" y="4017990"/>
            <a:ext cx="64008" cy="1143000"/>
          </a:xfrm>
          <a:prstGeom prst="rect">
            <a:avLst/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12848" y="418258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If “no” early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2212848" y="4584918"/>
            <a:ext cx="31272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Clarify the process or improve the data before choosing a model.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75120" y="401799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C8D1DC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5120" y="4017990"/>
            <a:ext cx="64008" cy="1143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76288" y="418258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If “yes” throughout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876288" y="4584918"/>
            <a:ext cx="31272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Prototype AI—but define controls, evaluation and fallback paths before scaling.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51560" y="561819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334155"/>
                </a:solidFill>
              </a:rPr>
              <a:t>Strong AI candidates often involve unstructured information, fuzzy patterns, language, images, prioritization or prediction.</a:t>
            </a:r>
            <a:endParaRPr lang="en-US" sz="17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86850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DECISION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87764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common use-case framing canvas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38056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Five lenses used throughout the course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2294966"/>
            <a:ext cx="713232" cy="71323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0469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16364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033"/>
                </a:solidFill>
              </a:rPr>
              <a:t>Problem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20040" y="3620846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What decision or task must improve?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83080" y="2660726"/>
            <a:ext cx="777240" cy="0"/>
          </a:xfrm>
          <a:prstGeom prst="line">
            <a:avLst/>
          </a:prstGeom>
          <a:noFill/>
          <a:ln w="1905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71800" y="2294966"/>
            <a:ext cx="713232" cy="713232"/>
          </a:xfrm>
          <a:prstGeom prst="ellipse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40469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316364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033"/>
                </a:solidFill>
              </a:rPr>
              <a:t>Data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60320" y="3620846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What evidence can the solution use?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23360" y="2660726"/>
            <a:ext cx="777240" cy="0"/>
          </a:xfrm>
          <a:prstGeom prst="line">
            <a:avLst/>
          </a:prstGeom>
          <a:noFill/>
          <a:ln w="1905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12080" y="2294966"/>
            <a:ext cx="713232" cy="713232"/>
          </a:xfrm>
          <a:prstGeom prst="ellipse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240469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66360" y="316364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033"/>
                </a:solidFill>
              </a:rPr>
              <a:t>Users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00600" y="3620846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Who acts on the output, and where?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2660726"/>
            <a:ext cx="777240" cy="0"/>
          </a:xfrm>
          <a:prstGeom prst="line">
            <a:avLst/>
          </a:prstGeom>
          <a:noFill/>
          <a:ln w="1905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52360" y="2294966"/>
            <a:ext cx="713232" cy="713232"/>
          </a:xfrm>
          <a:prstGeom prst="ellipse">
            <a:avLst/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240469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06640" y="316364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033"/>
                </a:solidFill>
              </a:rPr>
              <a:t>Risks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40880" y="3620846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What can go wrong, and how serious is it?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03920" y="2660726"/>
            <a:ext cx="777240" cy="0"/>
          </a:xfrm>
          <a:prstGeom prst="line">
            <a:avLst/>
          </a:prstGeom>
          <a:noFill/>
          <a:ln w="1905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92640" y="2294966"/>
            <a:ext cx="713232" cy="71323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240469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46920" y="316364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033"/>
                </a:solidFill>
              </a:rPr>
              <a:t>Success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281160" y="3620846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</a:rPr>
              <a:t>How will we know it works?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143000" y="5358206"/>
            <a:ext cx="9875520" cy="594360"/>
          </a:xfrm>
          <a:prstGeom prst="roundRect">
            <a:avLst>
              <a:gd name="adj" fmla="val 15385"/>
            </a:avLst>
          </a:prstGeom>
          <a:solidFill>
            <a:srgbClr val="E8F0FF"/>
          </a:solidFill>
          <a:ln w="12700">
            <a:solidFill>
              <a:srgbClr val="C8D7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5568518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A63"/>
                </a:solidFill>
              </a:rPr>
              <a:t>Do not move to “Which model?” until these five lenses are explicit.</a:t>
            </a:r>
            <a:endParaRPr lang="en-US" sz="15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BA3CE9BC-2EA9-CE9C-1BB5-4ADE4835FFA5}"/>
              </a:ext>
            </a:extLst>
          </p:cNvPr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PROBLEM!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628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Frame the problem as a measurable change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21920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Avoid solution language in the first sentence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6012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Problem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15768" y="5916168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6324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18888" y="5916168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6636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Users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22008" y="5916168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6948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Risks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25128" y="5916168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7260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Success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1722122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1722122"/>
            <a:ext cx="64008" cy="14173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1886714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Current state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32688" y="2289050"/>
            <a:ext cx="47274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What happens today? Who does what, with which tools and delays?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1722122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1722122"/>
            <a:ext cx="64008" cy="14173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4808" y="1886714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Target state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464808" y="2289050"/>
            <a:ext cx="47274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What should become faster, safer, cheaper or more consistent?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1520" y="3550922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3550922"/>
            <a:ext cx="64008" cy="1417320"/>
          </a:xfrm>
          <a:prstGeom prst="rect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3715514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Decision boundary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32688" y="4117850"/>
            <a:ext cx="47274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Which part needs judgment, language understanding or pattern recognition?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63640" y="3550922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3550922"/>
            <a:ext cx="64008" cy="1417320"/>
          </a:xfrm>
          <a:prstGeom prst="rect">
            <a:avLst/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64808" y="3715514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Non-goals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6464808" y="4117850"/>
            <a:ext cx="472744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What is explicitly out of scope for the first release?</a:t>
            </a:r>
            <a:endParaRPr lang="en-US" sz="12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850575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859719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Assess data fitness before model selection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362639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Availability is not the same as usability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6012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Problem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15768" y="5916168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6324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18888" y="5916168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6636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Users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22008" y="5916168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6948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Risks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25128" y="5916168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7260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Success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1865559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1865559"/>
            <a:ext cx="64008" cy="14173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2030151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Coverage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86968" y="2432487"/>
            <a:ext cx="30815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Does the data represent the cases we care about?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80560" y="1865559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1865559"/>
            <a:ext cx="64008" cy="14173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2030151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Quality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681728" y="2432487"/>
            <a:ext cx="30815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Is it accurate, complete and current enough?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75320" y="1865559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1865559"/>
            <a:ext cx="64008" cy="14173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76488" y="2030151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Access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8476488" y="2432487"/>
            <a:ext cx="30815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Can the solution legally and technically retrieve it?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3740079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3740079"/>
            <a:ext cx="64008" cy="1417320"/>
          </a:xfrm>
          <a:prstGeom prst="rect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" y="3904671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Labels / feedback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886968" y="4307007"/>
            <a:ext cx="30815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Can we measure correctness or gather user feedback?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480560" y="3740079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80560" y="3740079"/>
            <a:ext cx="64008" cy="1417320"/>
          </a:xfrm>
          <a:prstGeom prst="rect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3904671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Sensitivity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4681728" y="4307007"/>
            <a:ext cx="30815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Does it contain personal, confidential or regulated data?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275320" y="3740079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75320" y="3740079"/>
            <a:ext cx="64008" cy="1417320"/>
          </a:xfrm>
          <a:prstGeom prst="rect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76488" y="3904671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Drift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8476488" y="4307007"/>
            <a:ext cx="30815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Will the data or process change over time?</a:t>
            </a:r>
            <a:endParaRPr lang="en-US" sz="125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4C0D49E7-2F45-5F68-2BD5-BFB97282A209}"/>
              </a:ext>
            </a:extLst>
          </p:cNvPr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DATA FITNESS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USERS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850753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Design for the user and the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353673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A good model in the wrong workflow still fails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6012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Problem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15768" y="5916168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6324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18888" y="5916168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6636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22008" y="5916168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6948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Risks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25128" y="5916168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7260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Success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1856593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033"/>
                </a:solidFill>
              </a:rPr>
              <a:t>Ask four workflow questions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31520" y="2313793"/>
            <a:ext cx="4892040" cy="2926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Who initiates the task?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Who reviews or approves the output?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What happens when confidence is low or information is missing?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Where is the output consumed: email, CRM, case-management, API, desktop app?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400800" y="2039473"/>
            <a:ext cx="448056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2341225"/>
            <a:ext cx="457200" cy="457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2450953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0" y="2368657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Customer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32520" y="2368657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</a:rPr>
              <a:t>asks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49440" y="2844145"/>
            <a:ext cx="0" cy="192024"/>
          </a:xfrm>
          <a:prstGeom prst="line">
            <a:avLst/>
          </a:prstGeom>
          <a:noFill/>
          <a:ln w="1651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720840" y="3054457"/>
            <a:ext cx="457200" cy="457200"/>
          </a:xfrm>
          <a:prstGeom prst="ellipse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3164185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0" y="3081889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AI assistant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32520" y="3081889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</a:rPr>
              <a:t>drafts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949440" y="3557377"/>
            <a:ext cx="0" cy="192024"/>
          </a:xfrm>
          <a:prstGeom prst="line">
            <a:avLst/>
          </a:prstGeom>
          <a:noFill/>
          <a:ln w="1651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720840" y="3767689"/>
            <a:ext cx="457200" cy="457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877417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0" y="3795121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Analyst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732520" y="3795121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</a:rPr>
              <a:t>reviews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949440" y="4270609"/>
            <a:ext cx="0" cy="192024"/>
          </a:xfrm>
          <a:prstGeom prst="line">
            <a:avLst/>
          </a:prstGeom>
          <a:noFill/>
          <a:ln w="1651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720840" y="4480921"/>
            <a:ext cx="457200" cy="457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4590649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315200" y="4508353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Core system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732520" y="4508353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</a:rPr>
              <a:t>records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537960" y="5102713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A63"/>
                </a:solidFill>
              </a:rPr>
              <a:t>Human review is a workflow decision—not a model feature.</a:t>
            </a:r>
            <a:endParaRPr lang="en-US" sz="135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RISKS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521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Map risks before prototyping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2550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Probability × impact × detectability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6012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Problem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15768" y="5916168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6324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18888" y="5916168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6636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Users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22008" y="5916168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6948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25128" y="5916168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72600" y="5715000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58247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Success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1757980"/>
            <a:ext cx="34290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1757980"/>
            <a:ext cx="64008" cy="1353312"/>
          </a:xfrm>
          <a:prstGeom prst="rect">
            <a:avLst/>
          </a:prstGeom>
          <a:solidFill>
            <a:srgbClr val="C43B3B"/>
          </a:solidFill>
          <a:ln w="12700">
            <a:solidFill>
              <a:srgbClr val="C43B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19225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Wrong answer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86968" y="2324908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Model error or hallucination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80560" y="1757980"/>
            <a:ext cx="34290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1757980"/>
            <a:ext cx="64008" cy="1353312"/>
          </a:xfrm>
          <a:prstGeom prst="rect">
            <a:avLst/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19225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Data leakage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681728" y="2324908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Sensitive content exposed or logged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75320" y="1757980"/>
            <a:ext cx="34290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1757980"/>
            <a:ext cx="64008" cy="1353312"/>
          </a:xfrm>
          <a:prstGeom prst="rect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76488" y="19225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Bias / unfairness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8476488" y="2324908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Different outcomes across groups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3586780"/>
            <a:ext cx="34290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3586780"/>
            <a:ext cx="64008" cy="135331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" y="37513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Automation bias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886968" y="4153708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Users over-trust fluent output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480560" y="3586780"/>
            <a:ext cx="34290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80560" y="3586780"/>
            <a:ext cx="64008" cy="1353312"/>
          </a:xfrm>
          <a:prstGeom prst="rect">
            <a:avLst/>
          </a:prstGeom>
          <a:solidFill>
            <a:srgbClr val="C43B3B"/>
          </a:solidFill>
          <a:ln w="12700">
            <a:solidFill>
              <a:srgbClr val="C43B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37513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Security abuse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4681728" y="4153708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Prompt injection, data exfiltration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275320" y="3586780"/>
            <a:ext cx="342900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75320" y="3586780"/>
            <a:ext cx="64008" cy="1353312"/>
          </a:xfrm>
          <a:prstGeom prst="rect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76488" y="3751372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Operational failure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8476488" y="4153708"/>
            <a:ext cx="3081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Latency, cost, outage or tool dependency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21792" y="61264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</a:rPr>
              <a:t>Risk severity determines the required controls, review level, logging and fallback path.</a:t>
            </a:r>
            <a:endParaRPr lang="en-US" sz="10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SUCCESS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16281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Define success metrics at three levels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219201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Model quality is necessary—but not sufficient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60120" y="6019801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6129529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Problem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15768" y="6220969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63240" y="6019801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6129529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18888" y="6220969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66360" y="6019801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6129529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Users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22008" y="6220969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69480" y="6019801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6129529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7085"/>
                </a:solidFill>
              </a:rPr>
              <a:t>Risks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25128" y="6220969"/>
            <a:ext cx="29260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72600" y="6019801"/>
            <a:ext cx="1737360" cy="402336"/>
          </a:xfrm>
          <a:prstGeom prst="roundRect">
            <a:avLst>
              <a:gd name="adj" fmla="val 2727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6129529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Success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1813561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C8D1DC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1813561"/>
            <a:ext cx="64008" cy="338328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1978153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Model / output metrics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32688" y="2380489"/>
            <a:ext cx="3081528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Accuracy / groundedness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Completeness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Format validity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Safety violations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Calibration / confidence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89120" y="1813561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C8D1DC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0" y="1813561"/>
            <a:ext cx="64008" cy="3383280"/>
          </a:xfrm>
          <a:prstGeom prst="rect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0288" y="1978153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Workflow metrics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590288" y="2380489"/>
            <a:ext cx="3081528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Handling time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First-pass resolution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Escalation rate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Rework rate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User acceptance / override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46720" y="1813561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C8D1DC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46720" y="1813561"/>
            <a:ext cx="64008" cy="33832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7888" y="1978153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Business metrics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8247888" y="2380489"/>
            <a:ext cx="3081528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Cost per case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Revenue or conversion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Risk reduction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Customer satisfaction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Compliance outcomes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05840" y="5562601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A63"/>
                </a:solidFill>
              </a:rPr>
              <a:t>A successful AI system improves the process without creating unacceptable new risk.</a:t>
            </a:r>
            <a:endParaRPr lang="en-US" sz="17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859539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DECISION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868683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reusable “AI or not?” scorecard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371603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Use it consistently before comparing vendors or models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874523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033"/>
                </a:solidFill>
              </a:rPr>
              <a:t>Business value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743200" y="1874523"/>
            <a:ext cx="5760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Is the outcome valuable enough to justify change?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78240" y="1837947"/>
            <a:ext cx="713232" cy="329184"/>
          </a:xfrm>
          <a:prstGeom prst="roundRect">
            <a:avLst>
              <a:gd name="adj" fmla="val 3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51392" y="1915671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Low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19488" y="1837947"/>
            <a:ext cx="713232" cy="329184"/>
          </a:xfrm>
          <a:prstGeom prst="roundRect">
            <a:avLst>
              <a:gd name="adj" fmla="val 33333"/>
            </a:avLst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0" y="1915671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Med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460736" y="1837947"/>
            <a:ext cx="713232" cy="329184"/>
          </a:xfrm>
          <a:prstGeom prst="roundRect">
            <a:avLst>
              <a:gd name="adj" fmla="val 3333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33888" y="1915671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High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2542035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033"/>
                </a:solidFill>
              </a:rPr>
              <a:t>Data readiness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743200" y="2542035"/>
            <a:ext cx="5760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Is there enough usable evidence?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778240" y="2505459"/>
            <a:ext cx="713232" cy="329184"/>
          </a:xfrm>
          <a:prstGeom prst="roundRect">
            <a:avLst>
              <a:gd name="adj" fmla="val 3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51392" y="2583183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Low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19488" y="2505459"/>
            <a:ext cx="713232" cy="329184"/>
          </a:xfrm>
          <a:prstGeom prst="roundRect">
            <a:avLst>
              <a:gd name="adj" fmla="val 33333"/>
            </a:avLst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0" y="2583183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Med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460736" y="2505459"/>
            <a:ext cx="713232" cy="329184"/>
          </a:xfrm>
          <a:prstGeom prst="roundRect">
            <a:avLst>
              <a:gd name="adj" fmla="val 3333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33888" y="2583183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High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3209547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033"/>
                </a:solidFill>
              </a:rPr>
              <a:t>AI advantage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743200" y="3209547"/>
            <a:ext cx="5760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Does AI outperform simpler alternatives?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778240" y="3172971"/>
            <a:ext cx="713232" cy="329184"/>
          </a:xfrm>
          <a:prstGeom prst="roundRect">
            <a:avLst>
              <a:gd name="adj" fmla="val 3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51392" y="3250695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Low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19488" y="3172971"/>
            <a:ext cx="713232" cy="329184"/>
          </a:xfrm>
          <a:prstGeom prst="roundRect">
            <a:avLst>
              <a:gd name="adj" fmla="val 33333"/>
            </a:avLst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3250695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Med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460736" y="3172971"/>
            <a:ext cx="713232" cy="329184"/>
          </a:xfrm>
          <a:prstGeom prst="roundRect">
            <a:avLst>
              <a:gd name="adj" fmla="val 3333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33888" y="3250695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High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7240" y="3877059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033"/>
                </a:solidFill>
              </a:rPr>
              <a:t>Risk controllability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2743200" y="3877059"/>
            <a:ext cx="5760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Can errors and abuse be contained?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778240" y="3840483"/>
            <a:ext cx="713232" cy="329184"/>
          </a:xfrm>
          <a:prstGeom prst="roundRect">
            <a:avLst>
              <a:gd name="adj" fmla="val 3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51392" y="3918207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Low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619488" y="3840483"/>
            <a:ext cx="713232" cy="329184"/>
          </a:xfrm>
          <a:prstGeom prst="roundRect">
            <a:avLst>
              <a:gd name="adj" fmla="val 33333"/>
            </a:avLst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0" y="3918207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Med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460736" y="3840483"/>
            <a:ext cx="713232" cy="329184"/>
          </a:xfrm>
          <a:prstGeom prst="roundRect">
            <a:avLst>
              <a:gd name="adj" fmla="val 3333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33888" y="3918207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High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77240" y="4544571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033"/>
                </a:solidFill>
              </a:rPr>
              <a:t>Integration fit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2743200" y="4544571"/>
            <a:ext cx="5760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Can it operate in the real workflow?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778240" y="4507995"/>
            <a:ext cx="713232" cy="329184"/>
          </a:xfrm>
          <a:prstGeom prst="roundRect">
            <a:avLst>
              <a:gd name="adj" fmla="val 3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51392" y="4585719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Low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619488" y="4507995"/>
            <a:ext cx="713232" cy="329184"/>
          </a:xfrm>
          <a:prstGeom prst="roundRect">
            <a:avLst>
              <a:gd name="adj" fmla="val 33333"/>
            </a:avLst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92640" y="4585719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Med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0460736" y="4507995"/>
            <a:ext cx="713232" cy="329184"/>
          </a:xfrm>
          <a:prstGeom prst="roundRect">
            <a:avLst>
              <a:gd name="adj" fmla="val 3333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33888" y="4585719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High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77240" y="5212083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033"/>
                </a:solidFill>
              </a:rPr>
              <a:t>Measurability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2743200" y="5212083"/>
            <a:ext cx="5760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Can success be tested objectively?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8778240" y="5175507"/>
            <a:ext cx="713232" cy="329184"/>
          </a:xfrm>
          <a:prstGeom prst="roundRect">
            <a:avLst>
              <a:gd name="adj" fmla="val 3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51392" y="5253231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Low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619488" y="5175507"/>
            <a:ext cx="713232" cy="329184"/>
          </a:xfrm>
          <a:prstGeom prst="roundRect">
            <a:avLst>
              <a:gd name="adj" fmla="val 33333"/>
            </a:avLst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92640" y="5253231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Med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0460736" y="5175507"/>
            <a:ext cx="713232" cy="329184"/>
          </a:xfrm>
          <a:prstGeom prst="roundRect">
            <a:avLst>
              <a:gd name="adj" fmla="val 3333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533888" y="5253231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High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21792" y="61264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</a:rPr>
              <a:t>The scorecard is not a mathematical truth: it is a structured conversation that exposes assumptions early.</a:t>
            </a:r>
            <a:endParaRPr lang="en-US" sz="105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57" name="Text 1">
            <a:extLst>
              <a:ext uri="{FF2B5EF4-FFF2-40B4-BE49-F238E27FC236}">
                <a16:creationId xmlns:a16="http://schemas.microsoft.com/office/drawing/2014/main" id="{C787EC96-84AE-A81B-6A89-F82F0214CAC3}"/>
              </a:ext>
            </a:extLst>
          </p:cNvPr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Scorecard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56437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301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WORKED EXAMPLE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7903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AI-assisted KYC document review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290919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Using the five-lens framing canvas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195560" y="475488"/>
            <a:ext cx="1325880" cy="329184"/>
          </a:xfrm>
          <a:prstGeom prst="roundRect">
            <a:avLst>
              <a:gd name="adj" fmla="val 33333"/>
            </a:avLst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68712" y="553212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BANKING EXAMPLE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1702399"/>
            <a:ext cx="475488" cy="47548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12127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720687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Problem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51760" y="1720687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Reduce manual reading of onboarding documents while preserving analyst control.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2561935"/>
            <a:ext cx="475488" cy="475488"/>
          </a:xfrm>
          <a:prstGeom prst="ellipse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71663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580223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51760" y="2580223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Forms, IDs, company documents, policy rules, historical review outcomes.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" y="3421471"/>
            <a:ext cx="475488" cy="475488"/>
          </a:xfrm>
          <a:prstGeom prst="ellipse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31199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439759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Users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651760" y="3439759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KYC analyst reviews extracted facts and model-generated summaries.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77240" y="4281007"/>
            <a:ext cx="475488" cy="475488"/>
          </a:xfrm>
          <a:prstGeom prst="ellipse">
            <a:avLst/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390735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299295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Risks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651760" y="4299295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Missed red flags, hallucinated facts, privacy leakage, false confidence.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77240" y="5140543"/>
            <a:ext cx="475488" cy="47548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250271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5158831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Success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651760" y="5158831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Lower handling time with no increase in compliance exceptions.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051560" y="6045799"/>
            <a:ext cx="10012680" cy="457200"/>
          </a:xfrm>
          <a:prstGeom prst="roundRect">
            <a:avLst>
              <a:gd name="adj" fmla="val 16000"/>
            </a:avLst>
          </a:prstGeom>
          <a:solidFill>
            <a:srgbClr val="DFF6F4"/>
          </a:solidFill>
          <a:ln w="12700">
            <a:solidFill>
              <a:srgbClr val="B9E8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0" y="6182959"/>
            <a:ext cx="9555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A63"/>
                </a:solidFill>
              </a:rPr>
              <a:t>Likely solution: document extraction + retrieval + LLM summarization + human review—not “LLM only”.</a:t>
            </a:r>
            <a:endParaRPr lang="en-US" sz="13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WHEN NOT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850753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Sometimes the best AI decision is “do not use AI”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34470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Prefer simpler methods when they are more reliable, transparent or cheaper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1710468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10468"/>
            <a:ext cx="64008" cy="932688"/>
          </a:xfrm>
          <a:prstGeom prst="rect">
            <a:avLst/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875060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Exact calculations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78408" y="2277396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Interest, fees, accounting totals → deterministic formulas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880900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880900"/>
            <a:ext cx="64008" cy="932688"/>
          </a:xfrm>
          <a:prstGeom prst="rect">
            <a:avLst/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3045492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Stable eligibility rules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78408" y="3447828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Clear policy logic → rule engine / decision table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051332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051332"/>
            <a:ext cx="64008" cy="932688"/>
          </a:xfrm>
          <a:prstGeom prst="rect">
            <a:avLst/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21592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Small structured lookup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78408" y="4618260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Known facts → database query / search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5221764"/>
            <a:ext cx="52120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221764"/>
            <a:ext cx="64008" cy="932688"/>
          </a:xfrm>
          <a:prstGeom prst="rect">
            <a:avLst/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5386356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Rare high-impact decisions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78408" y="5788692"/>
            <a:ext cx="4864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If errors are unacceptable and cannot be reviewed → keep deterministic / human control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0" y="184762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B57"/>
                </a:solidFill>
              </a:rPr>
              <a:t>Use AI when it adds unique value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83680" y="2396268"/>
            <a:ext cx="4297680" cy="2926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Understanding messy language or documents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Finding patterns that rules cannot enumerate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Generating or transforming content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</a:rPr>
              <a:t>Prioritizing cases under uncertainty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0" y="55052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63A63"/>
                </a:solidFill>
              </a:rPr>
              <a:t>Rule of thumb: deterministic where possible, probabilistic where valuable.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LARGE LANGUAGE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82385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an LLM?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32677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A model trained to predict the next token from context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2058298"/>
            <a:ext cx="2743200" cy="1143000"/>
          </a:xfrm>
          <a:prstGeom prst="roundRect">
            <a:avLst>
              <a:gd name="adj" fmla="val 9600"/>
            </a:avLst>
          </a:prstGeom>
          <a:solidFill>
            <a:srgbClr val="E8F0FF"/>
          </a:solidFill>
          <a:ln w="12700">
            <a:solidFill>
              <a:srgbClr val="C5D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37833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033"/>
                </a:solidFill>
              </a:rPr>
              <a:t>Input context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2033"/>
                </a:solidFill>
              </a:rPr>
              <a:t>“Customer wants to…”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703320" y="2625226"/>
            <a:ext cx="914400" cy="0"/>
          </a:xfrm>
          <a:prstGeom prst="line">
            <a:avLst/>
          </a:prstGeom>
          <a:noFill/>
          <a:ln w="2794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63440" y="1829698"/>
            <a:ext cx="2834640" cy="1600200"/>
          </a:xfrm>
          <a:prstGeom prst="roundRect">
            <a:avLst>
              <a:gd name="adj" fmla="val 6857"/>
            </a:avLst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35090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LLM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7543800" y="2625226"/>
            <a:ext cx="914400" cy="0"/>
          </a:xfrm>
          <a:prstGeom prst="line">
            <a:avLst/>
          </a:prstGeom>
          <a:noFill/>
          <a:ln w="2794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03920" y="2058298"/>
            <a:ext cx="2743200" cy="1143000"/>
          </a:xfrm>
          <a:prstGeom prst="roundRect">
            <a:avLst>
              <a:gd name="adj" fmla="val 9600"/>
            </a:avLst>
          </a:prstGeom>
          <a:solidFill>
            <a:srgbClr val="DFF6F4"/>
          </a:solidFill>
          <a:ln w="12700">
            <a:solidFill>
              <a:srgbClr val="B6E9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32520" y="235090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033"/>
                </a:solidFill>
              </a:rPr>
              <a:t>Probability over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2033"/>
                </a:solidFill>
              </a:rPr>
              <a:t>next tokens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68680" y="4298578"/>
            <a:ext cx="3337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298578"/>
            <a:ext cx="64008" cy="128016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446317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Language model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69848" y="4865506"/>
            <a:ext cx="2990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Learns statistical structure of text and other tokenized modalities.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17720" y="4298578"/>
            <a:ext cx="3337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4298578"/>
            <a:ext cx="64008" cy="1280160"/>
          </a:xfrm>
          <a:prstGeom prst="rect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446317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Large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818888" y="4865506"/>
            <a:ext cx="2990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Many parameters and large-scale training data / compute.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366760" y="4298578"/>
            <a:ext cx="3337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66760" y="4298578"/>
            <a:ext cx="64008" cy="1280160"/>
          </a:xfrm>
          <a:prstGeom prst="rect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67928" y="446317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Generative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567928" y="4865506"/>
            <a:ext cx="2990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Produces new sequences one token at a time.</a:t>
            </a:r>
            <a:endParaRPr lang="en-US" sz="12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LLM CONCEPT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7007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Generation is repeated next-token prediction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27299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One step is simple; the sequence becomes powerful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1958790"/>
            <a:ext cx="914400" cy="329184"/>
          </a:xfrm>
          <a:prstGeom prst="roundRect">
            <a:avLst>
              <a:gd name="adj" fmla="val 3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036514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The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56232" y="1958790"/>
            <a:ext cx="914400" cy="329184"/>
          </a:xfrm>
          <a:prstGeom prst="roundRect">
            <a:avLst>
              <a:gd name="adj" fmla="val 3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9384" y="2036514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loan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35224" y="1958790"/>
            <a:ext cx="914400" cy="329184"/>
          </a:xfrm>
          <a:prstGeom prst="roundRect">
            <a:avLst>
              <a:gd name="adj" fmla="val 3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08376" y="2036514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application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14216" y="1958790"/>
            <a:ext cx="914400" cy="329184"/>
          </a:xfrm>
          <a:prstGeom prst="roundRect">
            <a:avLst>
              <a:gd name="adj" fmla="val 3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87368" y="2036514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93208" y="1958790"/>
            <a:ext cx="914400" cy="329184"/>
          </a:xfrm>
          <a:prstGeom prst="roundRect">
            <a:avLst>
              <a:gd name="adj" fmla="val 33333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2036514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likely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958790"/>
            <a:ext cx="914400" cy="329184"/>
          </a:xfrm>
          <a:prstGeom prst="roundRect">
            <a:avLst>
              <a:gd name="adj" fmla="val 33333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2036514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to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51192" y="1958790"/>
            <a:ext cx="914400" cy="329184"/>
          </a:xfrm>
          <a:prstGeom prst="roundRect">
            <a:avLst>
              <a:gd name="adj" fmla="val 33333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24344" y="2036514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be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83880" y="2141670"/>
            <a:ext cx="777240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52560" y="168447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188563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approved  0.42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rejected   0.31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delayed    0.12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23895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3A63"/>
                </a:solidFill>
              </a:rPr>
              <a:t>Sample / select one token → append it → repeat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097280" y="4244790"/>
            <a:ext cx="548640" cy="5486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35451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494887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</a:rPr>
              <a:t>Encode context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719072" y="4519110"/>
            <a:ext cx="1801368" cy="0"/>
          </a:xfrm>
          <a:prstGeom prst="line">
            <a:avLst/>
          </a:prstGeom>
          <a:noFill/>
          <a:ln w="1905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840480" y="4244790"/>
            <a:ext cx="548640" cy="548640"/>
          </a:xfrm>
          <a:prstGeom prst="ellipse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435451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57600" y="494887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</a:rPr>
              <a:t>Compute token probabilities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62272" y="4519110"/>
            <a:ext cx="1801368" cy="0"/>
          </a:xfrm>
          <a:prstGeom prst="line">
            <a:avLst/>
          </a:prstGeom>
          <a:noFill/>
          <a:ln w="1905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583680" y="4244790"/>
            <a:ext cx="548640" cy="548640"/>
          </a:xfrm>
          <a:prstGeom prst="ellipse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35451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0" y="494887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</a:rPr>
              <a:t>Select next token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205472" y="4519110"/>
            <a:ext cx="1801368" cy="0"/>
          </a:xfrm>
          <a:prstGeom prst="line">
            <a:avLst/>
          </a:prstGeom>
          <a:noFill/>
          <a:ln w="1905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326880" y="4244790"/>
            <a:ext cx="548640" cy="548640"/>
          </a:xfrm>
          <a:prstGeom prst="ellipse">
            <a:avLst/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0" y="435451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0" y="494887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4155"/>
                </a:solidFill>
              </a:rPr>
              <a:t>Append and iterate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1792" y="61264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</a:rPr>
              <a:t>This explains both fluency and uncertainty: the model generates plausible continuations, not guaranteed facts.</a:t>
            </a:r>
            <a:endParaRPr lang="en-US" sz="10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TOKENS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868683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Tokens are the model’s basic units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371603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Text is converted to token IDs before the model sees it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1783083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Example text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40283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A63"/>
                </a:solidFill>
              </a:rPr>
              <a:t>“International banking regulations”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77240" y="3063243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Possible tokenization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456435"/>
            <a:ext cx="1828800" cy="329184"/>
          </a:xfrm>
          <a:prstGeom prst="roundRect">
            <a:avLst>
              <a:gd name="adj" fmla="val 3333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3534159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International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88920" y="3456435"/>
            <a:ext cx="960120" cy="329184"/>
          </a:xfrm>
          <a:prstGeom prst="roundRect">
            <a:avLst>
              <a:gd name="adj" fmla="val 33333"/>
            </a:avLst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2072" y="3534159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 bank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31920" y="3456435"/>
            <a:ext cx="822960" cy="329184"/>
          </a:xfrm>
          <a:prstGeom prst="roundRect">
            <a:avLst>
              <a:gd name="adj" fmla="val 33333"/>
            </a:avLst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5072" y="3534159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0" y="3456435"/>
            <a:ext cx="1691640" cy="329184"/>
          </a:xfrm>
          <a:prstGeom prst="roundRect">
            <a:avLst>
              <a:gd name="adj" fmla="val 33333"/>
            </a:avLst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3534159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 regulations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0" y="1874523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C8D1DC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1874523"/>
            <a:ext cx="64008" cy="123444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2039115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Why tokens matter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784848" y="2441451"/>
            <a:ext cx="42245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Context limits, cost and latency are usually measured in tokens—not words.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3337563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C8D1DC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3337563"/>
            <a:ext cx="64008" cy="1234440"/>
          </a:xfrm>
          <a:prstGeom prst="rect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3502155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Tokenization is not linguistic truth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784848" y="3904491"/>
            <a:ext cx="42245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Words may split into several tokens; punctuation and spaces can also matter.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0" y="4800603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C8D1DC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0" y="4800603"/>
            <a:ext cx="64008" cy="1234440"/>
          </a:xfrm>
          <a:prstGeom prst="rect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84848" y="4965195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Multimodal models tokenize more than text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784848" y="5367531"/>
            <a:ext cx="42245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Images, audio and other inputs are represented as model-readable units too.</a:t>
            </a:r>
            <a:endParaRPr lang="en-US" sz="12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CONTEXT WINDOW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1350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context window is the model’s working memory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41642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Everything the model can consider in one inference call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1919346"/>
            <a:ext cx="10652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129658"/>
            <a:ext cx="1828800" cy="493776"/>
          </a:xfrm>
          <a:prstGeom prst="rect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510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System / policy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0" y="2129658"/>
            <a:ext cx="2194560" cy="493776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28510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Conversation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37760" y="2129658"/>
            <a:ext cx="2926080" cy="493776"/>
          </a:xfrm>
          <a:prstGeom prst="rect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228510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Retrieved docs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2129658"/>
            <a:ext cx="1737360" cy="493776"/>
          </a:xfrm>
          <a:prstGeom prst="rect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228510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 input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0" y="2129658"/>
            <a:ext cx="1463040" cy="493776"/>
          </a:xfrm>
          <a:prstGeom prst="rect">
            <a:avLst/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0" y="228510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Output budget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3382386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C8D1DC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382386"/>
            <a:ext cx="64008" cy="1920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354697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More context can help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24128" y="3949314"/>
            <a:ext cx="294436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Longer documents, richer history and more retrieved evidence can improve relevance.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434840" y="3382386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C8D1DC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3382386"/>
            <a:ext cx="64008" cy="1920240"/>
          </a:xfrm>
          <a:prstGeom prst="rect">
            <a:avLst/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54697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But more is not always better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4636008" y="3949314"/>
            <a:ext cx="294436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Irrelevant context can distract the model and increase cost and latency.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46720" y="3382386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C8D1DC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0" y="3382386"/>
            <a:ext cx="64008" cy="192024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7888" y="354697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Context is not persistent memory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8247888" y="3949314"/>
            <a:ext cx="294436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Unless the application stores and re-injects information, a new call does not “remember” it.</a:t>
            </a:r>
            <a:endParaRPr lang="en-US" sz="12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3819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TRAINING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886611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foundation model to useful assistant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389531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Conceptual training stages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29611"/>
            <a:ext cx="2423160" cy="3063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58211"/>
            <a:ext cx="502920" cy="5029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367939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944011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Pretraining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3629811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Learn broad statistical patterns from massive data.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108960" y="3446931"/>
            <a:ext cx="274320" cy="0"/>
          </a:xfrm>
          <a:prstGeom prst="line">
            <a:avLst/>
          </a:prstGeom>
          <a:noFill/>
          <a:ln w="1905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29000" y="2029611"/>
            <a:ext cx="2423160" cy="3063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3592" y="2258211"/>
            <a:ext cx="502920" cy="502920"/>
          </a:xfrm>
          <a:prstGeom prst="ellipse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2367939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93592" y="2944011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Instruction tuning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93592" y="3629811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Learn to follow tasks and conversational instructions.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897880" y="3446931"/>
            <a:ext cx="274320" cy="0"/>
          </a:xfrm>
          <a:prstGeom prst="line">
            <a:avLst/>
          </a:prstGeom>
          <a:noFill/>
          <a:ln w="1905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2029611"/>
            <a:ext cx="2423160" cy="3063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82512" y="2258211"/>
            <a:ext cx="502920" cy="502920"/>
          </a:xfrm>
          <a:prstGeom prst="ellipse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2367939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82512" y="2944011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Preference / alignment tuning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82512" y="3629811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Shape behavior toward useful, safe and preferred responses.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686800" y="3446931"/>
            <a:ext cx="274320" cy="0"/>
          </a:xfrm>
          <a:prstGeom prst="line">
            <a:avLst/>
          </a:prstGeom>
          <a:noFill/>
          <a:ln w="1905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06840" y="2029611"/>
            <a:ext cx="2423160" cy="3063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71432" y="2258211"/>
            <a:ext cx="502920" cy="502920"/>
          </a:xfrm>
          <a:prstGeom prst="ellipse">
            <a:avLst/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71432" y="2367939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71432" y="2944011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Application adaptation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71432" y="3629811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</a:rPr>
              <a:t>Prompting, retrieval, tools, fine-tuning or policies for a specific use case.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21792" y="61264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</a:rPr>
              <a:t>Most enterprise teams consume pretrained models and focus on application adaptation—not training from scratch.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INFERENCE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82385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Inference: what happens when the application calls the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32677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Prompt in → tokens processed → output generated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966858"/>
            <a:ext cx="2468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66858"/>
            <a:ext cx="64008" cy="20574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13145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Application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86968" y="2533786"/>
            <a:ext cx="212140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Assembles instructions, user input, context and tools.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2990986"/>
            <a:ext cx="246888" cy="0"/>
          </a:xfrm>
          <a:prstGeom prst="line">
            <a:avLst/>
          </a:prstGeom>
          <a:noFill/>
          <a:ln w="1905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20440" y="1966858"/>
            <a:ext cx="2468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966858"/>
            <a:ext cx="64008" cy="2057400"/>
          </a:xfrm>
          <a:prstGeom prst="rect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213145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Model service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721608" y="2533786"/>
            <a:ext cx="212140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Processes context and generates tokens.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2990986"/>
            <a:ext cx="246888" cy="0"/>
          </a:xfrm>
          <a:prstGeom prst="line">
            <a:avLst/>
          </a:prstGeom>
          <a:noFill/>
          <a:ln w="1905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55080" y="1966858"/>
            <a:ext cx="2468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1966858"/>
            <a:ext cx="64008" cy="2057400"/>
          </a:xfrm>
          <a:prstGeom prst="rect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213145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Guardrails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556248" y="2533786"/>
            <a:ext cx="212140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Validate format, safety, citations or policy constraints.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869680" y="2990986"/>
            <a:ext cx="246888" cy="0"/>
          </a:xfrm>
          <a:prstGeom prst="line">
            <a:avLst/>
          </a:prstGeom>
          <a:noFill/>
          <a:ln w="1905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89720" y="1966858"/>
            <a:ext cx="2468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1966858"/>
            <a:ext cx="64008" cy="20574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0888" y="213145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Workflow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390888" y="2533786"/>
            <a:ext cx="212140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Human or system consumes the output.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457289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033"/>
                </a:solidFill>
              </a:rPr>
              <a:t>Inference design choices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77240" y="5075818"/>
            <a:ext cx="2240280" cy="329184"/>
          </a:xfrm>
          <a:prstGeom prst="roundRect">
            <a:avLst>
              <a:gd name="adj" fmla="val 33333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5153542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Model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5075818"/>
            <a:ext cx="2240280" cy="329184"/>
          </a:xfrm>
          <a:prstGeom prst="roundRect">
            <a:avLst>
              <a:gd name="adj" fmla="val 33333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56432" y="5153542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Temperature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5075818"/>
            <a:ext cx="2240280" cy="329184"/>
          </a:xfrm>
          <a:prstGeom prst="roundRect">
            <a:avLst>
              <a:gd name="adj" fmla="val 33333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62472" y="5153542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Max output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595360" y="5075818"/>
            <a:ext cx="2240280" cy="329184"/>
          </a:xfrm>
          <a:prstGeom prst="roundRect">
            <a:avLst>
              <a:gd name="adj" fmla="val 33333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68512" y="5153542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Tools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77240" y="5606170"/>
            <a:ext cx="2240280" cy="329184"/>
          </a:xfrm>
          <a:prstGeom prst="roundRect">
            <a:avLst>
              <a:gd name="adj" fmla="val 33333"/>
            </a:avLst>
          </a:prstGeom>
          <a:solidFill>
            <a:srgbClr val="DFF6F4"/>
          </a:solidFill>
          <a:ln w="12700">
            <a:solidFill>
              <a:srgbClr val="DFF6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" y="568389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Retrieval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83280" y="5606170"/>
            <a:ext cx="2240280" cy="329184"/>
          </a:xfrm>
          <a:prstGeom prst="roundRect">
            <a:avLst>
              <a:gd name="adj" fmla="val 33333"/>
            </a:avLst>
          </a:prstGeom>
          <a:solidFill>
            <a:srgbClr val="DFF6F4"/>
          </a:solidFill>
          <a:ln w="12700">
            <a:solidFill>
              <a:srgbClr val="DFF6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56432" y="568389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Safety filters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989320" y="5606170"/>
            <a:ext cx="2240280" cy="329184"/>
          </a:xfrm>
          <a:prstGeom prst="roundRect">
            <a:avLst>
              <a:gd name="adj" fmla="val 33333"/>
            </a:avLst>
          </a:prstGeom>
          <a:solidFill>
            <a:srgbClr val="DFF6F4"/>
          </a:solidFill>
          <a:ln w="12700">
            <a:solidFill>
              <a:srgbClr val="DFF6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62472" y="568389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Timeout / retry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595360" y="5606170"/>
            <a:ext cx="2240280" cy="329184"/>
          </a:xfrm>
          <a:prstGeom prst="roundRect">
            <a:avLst>
              <a:gd name="adj" fmla="val 33333"/>
            </a:avLst>
          </a:prstGeom>
          <a:solidFill>
            <a:srgbClr val="DFF6F4"/>
          </a:solidFill>
          <a:ln w="12700">
            <a:solidFill>
              <a:srgbClr val="DFF6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68512" y="568389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033"/>
                </a:solidFill>
              </a:rPr>
              <a:t>Logging</a:t>
            </a:r>
            <a:endParaRPr lang="en-US" sz="10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CAPABILITIES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8522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LLMs are good at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48814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Capabilities are strongest where language patterns and transformation matter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945342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45342"/>
            <a:ext cx="64008" cy="150876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10993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Summarize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86968" y="2512270"/>
            <a:ext cx="30815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Condense documents, conversations or cases.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1945342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945342"/>
            <a:ext cx="64008" cy="150876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210993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Extract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81728" y="2512270"/>
            <a:ext cx="30815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Turn unstructured text into fields and entities.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75320" y="1945342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945342"/>
            <a:ext cx="64008" cy="150876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210993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Classify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476488" y="2512270"/>
            <a:ext cx="30815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Route, tag or prioritize textual cases.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3911302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911302"/>
            <a:ext cx="64008" cy="1508760"/>
          </a:xfrm>
          <a:prstGeom prst="rect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407589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Generate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86968" y="4478230"/>
            <a:ext cx="30815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Draft emails, reports, explanations and content.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80560" y="3911302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3911302"/>
            <a:ext cx="64008" cy="1508760"/>
          </a:xfrm>
          <a:prstGeom prst="rect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407589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Transform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681728" y="4478230"/>
            <a:ext cx="30815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Rewrite, translate, normalize tone or format.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75320" y="3911302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911302"/>
            <a:ext cx="64008" cy="1508760"/>
          </a:xfrm>
          <a:prstGeom prst="rect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76488" y="407589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Reason with support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8476488" y="4478230"/>
            <a:ext cx="308152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Compare evidence, follow procedures, use tools and retrieved context.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21792" y="61264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</a:rPr>
              <a:t>Capability does not imply reliability. Each use case still needs task-specific evaluation and controls.</a:t>
            </a:r>
            <a:endParaRPr lang="en-US" sz="10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20265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STRENGTHS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82385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LLMs changed enterprise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32677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They make unstructured information programmable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829698"/>
            <a:ext cx="4389120" cy="4114800"/>
          </a:xfrm>
          <a:prstGeom prst="roundRect">
            <a:avLst>
              <a:gd name="adj" fmla="val 2667"/>
            </a:avLst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19545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Before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2835538"/>
            <a:ext cx="365760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6EEF7"/>
                </a:solidFill>
              </a:rPr>
              <a:t>Each NLP task required a specialized model or rules.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6EEF7"/>
                </a:solidFill>
              </a:rPr>
              <a:t>Interfaces were narrow and expensive to extend.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E6EEF7"/>
                </a:solidFill>
              </a:rPr>
              <a:t>Unstructured data often stayed outside core automation.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06440" y="1829698"/>
            <a:ext cx="54406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219545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3A63"/>
                </a:solidFill>
              </a:rPr>
              <a:t>With modern LLMs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17920" y="2744098"/>
            <a:ext cx="4572000" cy="2651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One model can handle many language tasks.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Natural-language instructions lower the cost of experimentation.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Tools, retrieval and structured outputs connect language to enterprise systems.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The same platform can support many workflows.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LIMITS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7903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Hallucinations: fluent output can still be wrong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28195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The model optimizes plausibility, not truth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1830594"/>
            <a:ext cx="47548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15063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3B3B"/>
                </a:solidFill>
              </a:rPr>
              <a:t>Typical causes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607834"/>
            <a:ext cx="402336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</a:rPr>
              <a:t>Missing or ambiguous information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</a:rPr>
              <a:t>Weak or conflicting context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</a:rPr>
              <a:t>Prompt asks beyond available evidence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</a:rPr>
              <a:t>Sampling variability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</a:rPr>
              <a:t>Model knowledge is outdated or incomplete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126480" y="1830594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DFF6F4"/>
          </a:solidFill>
          <a:ln w="12700">
            <a:solidFill>
              <a:srgbClr val="B6E9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15063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B57"/>
                </a:solidFill>
              </a:rPr>
              <a:t>Design responses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607834"/>
            <a:ext cx="429768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</a:rPr>
              <a:t>Ground answers in trusted sources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</a:rPr>
              <a:t>Require citations or source IDs where useful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</a:rPr>
              <a:t>Allow “insufficient information” as a valid output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</a:rPr>
              <a:t>Use deterministic validation for critical fields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</a:rPr>
              <a:t>Escalate high-risk cases to humans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97280" y="567107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A63"/>
                </a:solidFill>
              </a:rPr>
              <a:t>Do not “prompt away” hallucinations. Reduce their probability and limit their impact.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FRESHNESS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7903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cut-off and changing facts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28195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Static model knowledge is not a reliable source for current enterprise facts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3202194"/>
            <a:ext cx="9966960" cy="0"/>
          </a:xfrm>
          <a:prstGeom prst="line">
            <a:avLst/>
          </a:prstGeom>
          <a:noFill/>
          <a:ln w="25400">
            <a:solidFill>
              <a:srgbClr val="B6C2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882154"/>
            <a:ext cx="457200" cy="457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99188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52223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</a:rPr>
              <a:t>Training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89713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Past knowledge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49040" y="2882154"/>
            <a:ext cx="457200" cy="457200"/>
          </a:xfrm>
          <a:prstGeom prst="ellipse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99188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52223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</a:rPr>
              <a:t>Model release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389713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Frozen parameters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0" y="2882154"/>
            <a:ext cx="457200" cy="457200"/>
          </a:xfrm>
          <a:prstGeom prst="ellipse">
            <a:avLst/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99188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352223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</a:rPr>
              <a:t>Today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80760" y="389713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Policies, prices, products change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418320" y="2882154"/>
            <a:ext cx="457200" cy="457200"/>
          </a:xfrm>
          <a:prstGeom prst="ellipse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299188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52560" y="352223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</a:rPr>
              <a:t>Runtime data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15400" y="389713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Retrieve / call tools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011680" y="4985274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0" y="4985274"/>
            <a:ext cx="64008" cy="1005840"/>
          </a:xfrm>
          <a:prstGeom prst="rect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12848" y="514986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Retrieval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2212848" y="555220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Inject current internal documents or indexed knowledge.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46520" y="4985274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4985274"/>
            <a:ext cx="64008" cy="100584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47688" y="5149866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Tools / APIs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647688" y="5552202"/>
            <a:ext cx="2944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Query live systems for balances, rates, status or rules.</a:t>
            </a:r>
            <a:endParaRPr lang="en-US" sz="12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LLM RISK CONTROLS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76255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layered control model for LLM applications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479175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No single guardrail is enough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05840" y="1890655"/>
            <a:ext cx="10149840" cy="658368"/>
          </a:xfrm>
          <a:prstGeom prst="roundRect">
            <a:avLst>
              <a:gd name="adj" fmla="val 11111"/>
            </a:avLst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055247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027815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Monitoring &amp; audit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931920" y="2036959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3F6FA"/>
                </a:solidFill>
              </a:rPr>
              <a:t>Logs, quality trends, incidents, drift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25880" y="2786767"/>
            <a:ext cx="9509760" cy="658368"/>
          </a:xfrm>
          <a:prstGeom prst="roundRect">
            <a:avLst>
              <a:gd name="adj" fmla="val 11111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2951359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65960" y="2923927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Human / workflow controls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251960" y="2933071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3F6FA"/>
                </a:solidFill>
              </a:rPr>
              <a:t>Review, approval, escalation, fallback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645920" y="3682879"/>
            <a:ext cx="8869680" cy="658368"/>
          </a:xfrm>
          <a:prstGeom prst="roundRect">
            <a:avLst>
              <a:gd name="adj" fmla="val 11111"/>
            </a:avLst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3847471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3820039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Output controls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0" y="3829183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3F6FA"/>
                </a:solidFill>
              </a:rPr>
              <a:t>Schema validation, citations, business rules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965960" y="4578991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4743583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06040" y="4716151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Model controls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892040" y="4725295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3F6FA"/>
                </a:solidFill>
              </a:rPr>
              <a:t>Model choice, temperature, safety configuration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0" y="5475103"/>
            <a:ext cx="7589520" cy="658368"/>
          </a:xfrm>
          <a:prstGeom prst="roundRect">
            <a:avLst>
              <a:gd name="adj" fmla="val 11111"/>
            </a:avLst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5639695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26080" y="5612263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Input controls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212080" y="5621407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3F6FA"/>
                </a:solidFill>
              </a:rPr>
              <a:t>Access, redaction, prompt-injection defenses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PROMPT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58329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engineering is interface design for a probabilistic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461249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A prompt specifies task, context and output contract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055609"/>
            <a:ext cx="457200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35736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3B3B"/>
                </a:solidFill>
              </a:rPr>
              <a:t>Weak prompt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878569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33"/>
                </a:solidFill>
              </a:rPr>
              <a:t>“Summarize this document.”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3792969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67085"/>
                </a:solidFill>
              </a:rPr>
              <a:t>Ambiguous audience • unclear length • no required fields • no handling for missing data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897880" y="2055609"/>
            <a:ext cx="5440680" cy="3794760"/>
          </a:xfrm>
          <a:prstGeom prst="roundRect">
            <a:avLst>
              <a:gd name="adj" fmla="val 2892"/>
            </a:avLst>
          </a:prstGeom>
          <a:solidFill>
            <a:srgbClr val="DFF6F4"/>
          </a:solidFill>
          <a:ln w="12700">
            <a:solidFill>
              <a:srgbClr val="B6E9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357361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B57"/>
                </a:solidFill>
              </a:rPr>
              <a:t>Engineered prompt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17920" y="2787129"/>
            <a:ext cx="4572000" cy="2514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30" dirty="0">
                <a:solidFill>
                  <a:srgbClr val="334155"/>
                </a:solidFill>
              </a:rPr>
              <a:t>Role: “You are a credit analyst assistant.”</a:t>
            </a:r>
            <a:endParaRPr lang="en-US" sz="1530" dirty="0"/>
          </a:p>
          <a:p>
            <a:pPr marL="228600" indent="-228600">
              <a:buSzPct val="100000"/>
              <a:buChar char="•"/>
            </a:pPr>
            <a:r>
              <a:rPr lang="en-US" sz="1530" dirty="0">
                <a:solidFill>
                  <a:srgbClr val="334155"/>
                </a:solidFill>
              </a:rPr>
              <a:t>Task: “Summarize decision-relevant facts only.”</a:t>
            </a:r>
            <a:endParaRPr lang="en-US" sz="1530" dirty="0"/>
          </a:p>
          <a:p>
            <a:pPr marL="228600" indent="-228600">
              <a:buSzPct val="100000"/>
              <a:buChar char="•"/>
            </a:pPr>
            <a:r>
              <a:rPr lang="en-US" sz="1530" dirty="0">
                <a:solidFill>
                  <a:srgbClr val="334155"/>
                </a:solidFill>
              </a:rPr>
              <a:t>Constraints: “Use only the supplied document.”</a:t>
            </a:r>
            <a:endParaRPr lang="en-US" sz="1530" dirty="0"/>
          </a:p>
          <a:p>
            <a:pPr marL="228600" indent="-228600">
              <a:buSzPct val="100000"/>
              <a:buChar char="•"/>
            </a:pPr>
            <a:r>
              <a:rPr lang="en-US" sz="1530" dirty="0">
                <a:solidFill>
                  <a:srgbClr val="334155"/>
                </a:solidFill>
              </a:rPr>
              <a:t>Output: “Return JSON with 6 required fields.”</a:t>
            </a:r>
            <a:endParaRPr lang="en-US" sz="1530" dirty="0"/>
          </a:p>
          <a:p>
            <a:pPr marL="228600" indent="-228600">
              <a:buSzPct val="100000"/>
              <a:buChar char="•"/>
            </a:pPr>
            <a:r>
              <a:rPr lang="en-US" sz="1530" dirty="0">
                <a:solidFill>
                  <a:srgbClr val="334155"/>
                </a:solidFill>
              </a:rPr>
              <a:t>Fallback: “Use null when evidence is missing.”</a:t>
            </a:r>
            <a:endParaRPr lang="en-US" sz="15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PROMPT ANATOMY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7903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prompt structure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28195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Role + instructions + context + examples + output format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1666002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6717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ROLE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80360" y="1666002"/>
            <a:ext cx="8458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830594"/>
            <a:ext cx="7909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</a:rPr>
              <a:t>Who the model should act as and for whom.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7240" y="259869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9985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INSTRUCTIONS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880360" y="2598690"/>
            <a:ext cx="8458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2763282"/>
            <a:ext cx="7909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</a:rPr>
              <a:t>What to do, what not to do, priorities and constraints.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77240" y="3531378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3254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CONTEXT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880360" y="3531378"/>
            <a:ext cx="8458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3695970"/>
            <a:ext cx="7909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</a:rPr>
              <a:t>Data, documents, definitions, policies or retrieved evidence.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77240" y="4464066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66523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EXAMPLES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880360" y="4464066"/>
            <a:ext cx="8458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4628658"/>
            <a:ext cx="7909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</a:rPr>
              <a:t>Demonstrations of desired behavior and edge cases.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77240" y="5396754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59792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OUTPUT FORMAT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880360" y="5396754"/>
            <a:ext cx="8458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5561346"/>
            <a:ext cx="7909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</a:rPr>
              <a:t>Schema, sections, fields, types and acceptance rules.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21792" y="61264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67085"/>
                </a:solidFill>
              </a:rPr>
              <a:t>Not every prompt needs every block, but the structure is a useful debugging checklist.</a:t>
            </a:r>
            <a:endParaRPr lang="en-US" sz="10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EXAMPLES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94187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Examples teach behavior more precisely than prose alone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497107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Few-shot prompting is especially useful for edge cases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1954307"/>
            <a:ext cx="3337560" cy="429768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274347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Instruction only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822987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</a:rPr>
              <a:t>“Classify each complaint as billing, fraud, card, mortgage or other.”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4834667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43B3B"/>
                </a:solidFill>
              </a:rPr>
              <a:t>Problem: ambiguous boundaries remain hidden.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4057427"/>
            <a:ext cx="822960" cy="0"/>
          </a:xfrm>
          <a:prstGeom prst="line">
            <a:avLst/>
          </a:prstGeom>
          <a:noFill/>
          <a:ln w="2540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12080" y="1954307"/>
            <a:ext cx="6080760" cy="4297680"/>
          </a:xfrm>
          <a:prstGeom prst="roundRect">
            <a:avLst>
              <a:gd name="adj" fmla="val 2553"/>
            </a:avLst>
          </a:prstGeom>
          <a:solidFill>
            <a:srgbClr val="DFF6F4"/>
          </a:solidFill>
          <a:ln w="12700">
            <a:solidFill>
              <a:srgbClr val="B6E9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227434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Instruction + examples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32120" y="2822987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“ATM kept my card after PIN retries.”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509760" y="2804699"/>
            <a:ext cx="1143000" cy="329184"/>
          </a:xfrm>
          <a:prstGeom prst="roundRect">
            <a:avLst>
              <a:gd name="adj" fmla="val 33333"/>
            </a:avLst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82912" y="2882423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card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32120" y="3554507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“I do not recognize this transfer.”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09760" y="3536219"/>
            <a:ext cx="1143000" cy="329184"/>
          </a:xfrm>
          <a:prstGeom prst="roundRect">
            <a:avLst>
              <a:gd name="adj" fmla="val 33333"/>
            </a:avLst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82912" y="3613943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fraud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32120" y="4286027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</a:rPr>
              <a:t>“Early repayment fee is wrong.”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09760" y="4267739"/>
            <a:ext cx="1143000" cy="329184"/>
          </a:xfrm>
          <a:prstGeom prst="roundRect">
            <a:avLst>
              <a:gd name="adj" fmla="val 33333"/>
            </a:avLst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2912" y="4345463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mortgage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32120" y="5383307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A63"/>
                </a:solidFill>
              </a:rPr>
              <a:t>Examples define category boundaries and desired wording.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STRUCTURED OUTPUTS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6110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Structured outputs turn text generation into system integration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26402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Ask for machine-readable data with an explicit schema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195560" y="825114"/>
            <a:ext cx="1325880" cy="329184"/>
          </a:xfrm>
          <a:prstGeom prst="roundRect">
            <a:avLst>
              <a:gd name="adj" fmla="val 33333"/>
            </a:avLst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68712" y="90283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BANKING EXAMPLE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675506"/>
            <a:ext cx="4754880" cy="4434840"/>
          </a:xfrm>
          <a:prstGeom prst="roundRect">
            <a:avLst>
              <a:gd name="adj" fmla="val 206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995546"/>
            <a:ext cx="4114800" cy="3566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"customer_id": "C01842",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"risk_level": "medium",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"missing_documents": [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"proof_of_address"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"requires_review": true,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"evidence": ["page_4", "page_7"]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80760" y="1766946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1766946"/>
            <a:ext cx="64008" cy="1051560"/>
          </a:xfrm>
          <a:prstGeom prst="rect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1928" y="1931538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Why it helps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281928" y="2333874"/>
            <a:ext cx="4498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Easier validation, routing, storage and downstream automation.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80760" y="3047106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3047106"/>
            <a:ext cx="64008" cy="105156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3211698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What to specify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281928" y="3614034"/>
            <a:ext cx="4498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Field names, data types, allowed values, null behavior and required evidence.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80760" y="4327266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4327266"/>
            <a:ext cx="64008" cy="1051560"/>
          </a:xfrm>
          <a:prstGeom prst="rect">
            <a:avLst/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4491858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72033"/>
                </a:solidFill>
              </a:rPr>
              <a:t>What to validate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281928" y="4894194"/>
            <a:ext cx="4498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Schema compliance plus business rules. A valid JSON object can still be factually wrong.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PROMPT MANAGEMENT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6729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Treat prompts as versioned, testable assets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47021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Prompt management is software engineering for model behavior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2567494"/>
            <a:ext cx="566928" cy="56692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7722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329901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2033"/>
                </a:solidFill>
              </a:rPr>
              <a:t>Design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56032" y="3710494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Write prompt + schema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417320" y="2841814"/>
            <a:ext cx="914400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78608" y="2567494"/>
            <a:ext cx="566928" cy="566928"/>
          </a:xfrm>
          <a:prstGeom prst="ellipse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267722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22576" y="329901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2033"/>
                </a:solidFill>
              </a:rPr>
              <a:t>Version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103120" y="3710494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Store ID, owner, model, date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64408" y="2841814"/>
            <a:ext cx="914400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25696" y="2567494"/>
            <a:ext cx="566928" cy="566928"/>
          </a:xfrm>
          <a:prstGeom prst="ellipse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5696" y="267722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69664" y="329901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2033"/>
                </a:solidFill>
              </a:rPr>
              <a:t>Test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950208" y="3710494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Run fixed test set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111496" y="2841814"/>
            <a:ext cx="914400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72784" y="2567494"/>
            <a:ext cx="566928" cy="566928"/>
          </a:xfrm>
          <a:prstGeom prst="ellipse">
            <a:avLst/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267722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16752" y="329901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2033"/>
                </a:solidFill>
              </a:rPr>
              <a:t>Compare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797296" y="3710494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Quality, cost, latency, safety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958584" y="2841814"/>
            <a:ext cx="914400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19872" y="2567494"/>
            <a:ext cx="566928" cy="5669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19872" y="267722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863840" y="329901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2033"/>
                </a:solidFill>
              </a:rPr>
              <a:t>Approve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644384" y="3710494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Review + release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805672" y="2841814"/>
            <a:ext cx="914400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966960" y="2567494"/>
            <a:ext cx="566928" cy="566928"/>
          </a:xfrm>
          <a:prstGeom prst="ellipse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66960" y="267722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10928" y="329901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2033"/>
                </a:solidFill>
              </a:rPr>
              <a:t>Monitor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491472" y="3710494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</a:rPr>
              <a:t>Observe production drift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143000" y="5310694"/>
            <a:ext cx="9875520" cy="713232"/>
          </a:xfrm>
          <a:prstGeom prst="roundRect">
            <a:avLst>
              <a:gd name="adj" fmla="val 12821"/>
            </a:avLst>
          </a:prstGeom>
          <a:solidFill>
            <a:srgbClr val="E8F0FF"/>
          </a:solidFill>
          <a:ln w="12700">
            <a:solidFill>
              <a:srgbClr val="C5D5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17320" y="5521006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3A63"/>
                </a:solidFill>
              </a:rPr>
              <a:t>Never change a production prompt without knowing what changed, why it changed, and how it performed on the same evaluation set.</a:t>
            </a:r>
            <a:endParaRPr lang="en-US" sz="14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47472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0233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0" dirty="0">
                <a:solidFill>
                  <a:srgbClr val="FFFFFF"/>
                </a:solidFill>
              </a:rPr>
              <a:t>CAPSTONE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904541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course decision framework: from idea to governed AI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407461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Use this checklist for every new use case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1910381"/>
            <a:ext cx="1965960" cy="3337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84701"/>
            <a:ext cx="512064" cy="51206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94429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916221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2033"/>
                </a:solidFill>
              </a:rPr>
              <a:t>Frame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3556301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</a:rPr>
              <a:t>Problem, baseline, target outcome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587752" y="3556301"/>
            <a:ext cx="24688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98648" y="1910381"/>
            <a:ext cx="1965960" cy="3337560"/>
          </a:xfrm>
          <a:prstGeom prst="roundRect">
            <a:avLst>
              <a:gd name="adj" fmla="val 4651"/>
            </a:avLst>
          </a:prstGeom>
          <a:solidFill>
            <a:srgbClr val="DFF6F4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35808" y="2184701"/>
            <a:ext cx="512064" cy="512064"/>
          </a:xfrm>
          <a:prstGeom prst="ellipse">
            <a:avLst/>
          </a:prstGeom>
          <a:solidFill>
            <a:srgbClr val="0F9D94"/>
          </a:solidFill>
          <a:ln w="12700">
            <a:solidFill>
              <a:srgbClr val="0F9D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2294429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35808" y="2916221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2033"/>
                </a:solidFill>
              </a:rPr>
              <a:t>Qualify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081528" y="3556301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</a:rPr>
              <a:t>Data, users, risks, simpler alternatives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892040" y="3556301"/>
            <a:ext cx="24688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02936" y="1910381"/>
            <a:ext cx="1965960" cy="3337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0096" y="2184701"/>
            <a:ext cx="512064" cy="512064"/>
          </a:xfrm>
          <a:prstGeom prst="ellipse">
            <a:avLst/>
          </a:prstGeom>
          <a:solidFill>
            <a:srgbClr val="6E56CF"/>
          </a:solidFill>
          <a:ln w="12700">
            <a:solidFill>
              <a:srgbClr val="6E56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0096" y="2294429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0096" y="2916221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2033"/>
                </a:solidFill>
              </a:rPr>
              <a:t>Design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385816" y="3556301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</a:rPr>
              <a:t>Model, retrieval, tools, prompt, workflow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196328" y="3556301"/>
            <a:ext cx="24688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07224" y="1910381"/>
            <a:ext cx="1965960" cy="3337560"/>
          </a:xfrm>
          <a:prstGeom prst="roundRect">
            <a:avLst>
              <a:gd name="adj" fmla="val 4651"/>
            </a:avLst>
          </a:prstGeom>
          <a:solidFill>
            <a:srgbClr val="DFF6F4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44384" y="2184701"/>
            <a:ext cx="512064" cy="512064"/>
          </a:xfrm>
          <a:prstGeom prst="ellipse">
            <a:avLst/>
          </a:prstGeom>
          <a:solidFill>
            <a:srgbClr val="E58B2B"/>
          </a:solidFill>
          <a:ln w="12700">
            <a:solidFill>
              <a:srgbClr val="E58B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44384" y="2294429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44384" y="2916221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2033"/>
                </a:solidFill>
              </a:rPr>
              <a:t>Evaluate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690104" y="3556301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</a:rPr>
              <a:t>Quality, safety, cost, latency, business impact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500616" y="3556301"/>
            <a:ext cx="246888" cy="0"/>
          </a:xfrm>
          <a:prstGeom prst="line">
            <a:avLst/>
          </a:prstGeom>
          <a:noFill/>
          <a:ln w="17780">
            <a:solidFill>
              <a:srgbClr val="B6C2CF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811512" y="1910381"/>
            <a:ext cx="1965960" cy="33375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184701"/>
            <a:ext cx="512064" cy="51206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48672" y="2294429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948672" y="2916221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2033"/>
                </a:solidFill>
              </a:rPr>
              <a:t>Govern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994392" y="3556301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334155"/>
                </a:solidFill>
              </a:rPr>
              <a:t>Version, approve, monitor, improve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14400" y="5750861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A63"/>
                </a:solidFill>
              </a:rPr>
              <a:t>Key principle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331720" y="5705141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Choose AI only when it creates measurable value and its uncertainty can be controlled.</a:t>
            </a:r>
            <a:endParaRPr lang="en-US" sz="18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2686</Words>
  <Application>Microsoft Office PowerPoint</Application>
  <PresentationFormat>Widescreen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AI-Enabled Solutions</dc:title>
  <dc:subject>AI-Enabled Solutions, LLMs, Prompt Engineering and Prompt Management</dc:subject>
  <dc:creator>OpenAI</dc:creator>
  <cp:lastModifiedBy>Antonio Piemontese</cp:lastModifiedBy>
  <cp:revision>3</cp:revision>
  <dcterms:created xsi:type="dcterms:W3CDTF">2026-09-26T19:10:23Z</dcterms:created>
  <dcterms:modified xsi:type="dcterms:W3CDTF">2026-09-27T17:02:22Z</dcterms:modified>
</cp:coreProperties>
</file>