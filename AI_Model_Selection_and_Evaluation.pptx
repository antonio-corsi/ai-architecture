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B68"/>
          </a:solidFill>
          <a:ln w="12700">
            <a:solidFill>
              <a:srgbClr val="173B6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C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C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332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173F70"/>
                </a:solidFill>
                <a:latin typeface="Aptos Display"/>
              </a:rPr>
              <a:t>AI Model Selection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100584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27895"/>
                </a:solidFill>
                <a:latin typeface="Aptos"/>
              </a:rPr>
              <a:t>Proprietary and open-weight models. Selection criteria: quality, latency, cost, data residency and licensing.
Test sets, evaluation metrics and LLM-as-a-judge.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94760"/>
            <a:ext cx="173736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83375" y="3979103"/>
            <a:ext cx="399409" cy="3994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97492" y="4093220"/>
            <a:ext cx="171175" cy="171175"/>
          </a:xfrm>
          <a:prstGeom prst="rect">
            <a:avLst/>
          </a:prstGeom>
          <a:solidFill>
            <a:srgbClr val="ECF2FF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512051" y="4050426"/>
            <a:ext cx="71324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82784" y="4050426"/>
            <a:ext cx="71324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54698" y="3907779"/>
            <a:ext cx="0" cy="71324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4698" y="4378512"/>
            <a:ext cx="0" cy="71324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12051" y="4178808"/>
            <a:ext cx="71324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82784" y="4178808"/>
            <a:ext cx="71324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83080" y="3907779"/>
            <a:ext cx="0" cy="71324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83080" y="4378512"/>
            <a:ext cx="0" cy="71324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12051" y="4307189"/>
            <a:ext cx="71324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82784" y="4307189"/>
            <a:ext cx="71324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11461" y="3907779"/>
            <a:ext cx="0" cy="71324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11461" y="4378512"/>
            <a:ext cx="0" cy="71324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4128" y="4581144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1" i="0">
                <a:solidFill>
                  <a:srgbClr val="3468F7"/>
                </a:solidFill>
                <a:latin typeface="Aptos"/>
              </a:rPr>
              <a:t>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9232" y="3794760"/>
            <a:ext cx="173736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96736" y="4007632"/>
            <a:ext cx="342351" cy="3423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V="1">
            <a:off x="3867911" y="4086087"/>
            <a:ext cx="0" cy="92721"/>
          </a:xfrm>
          <a:prstGeom prst="line">
            <a:avLst/>
          </a:prstGeom>
          <a:ln w="22860">
            <a:solidFill>
              <a:srgbClr val="6D4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67911" y="4178808"/>
            <a:ext cx="85588" cy="57058"/>
          </a:xfrm>
          <a:prstGeom prst="line">
            <a:avLst/>
          </a:prstGeom>
          <a:ln w="22860">
            <a:solidFill>
              <a:srgbClr val="6D4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08960" y="4581144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1" i="0">
                <a:solidFill>
                  <a:srgbClr val="6D43D9"/>
                </a:solidFill>
                <a:latin typeface="Aptos"/>
              </a:rPr>
              <a:t>LATENCY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4064" y="3794760"/>
            <a:ext cx="173736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788700" y="4014764"/>
            <a:ext cx="328086" cy="3280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88700" y="4078955"/>
            <a:ext cx="328086" cy="142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92" b="1" i="0">
                <a:solidFill>
                  <a:srgbClr val="F07A3A"/>
                </a:solidFill>
                <a:latin typeface="Aptos"/>
              </a:rPr>
              <a:t>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581144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1" i="0">
                <a:solidFill>
                  <a:srgbClr val="F07A3A"/>
                </a:solidFill>
                <a:latin typeface="Aptos"/>
              </a:rPr>
              <a:t>COST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68896" y="3794760"/>
            <a:ext cx="173736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880664" y="4157411"/>
            <a:ext cx="313822" cy="2424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rc 32"/>
          <p:cNvSpPr/>
          <p:nvPr/>
        </p:nvSpPr>
        <p:spPr>
          <a:xfrm>
            <a:off x="7930591" y="3979103"/>
            <a:ext cx="213969" cy="242498"/>
          </a:xfrm>
          <a:prstGeom prst="arc">
            <a:avLst/>
          </a:prstGeom>
          <a:noFill/>
          <a:ln w="254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78624" y="4581144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1" i="0">
                <a:solidFill>
                  <a:srgbClr val="1F8F82"/>
                </a:solidFill>
                <a:latin typeface="Aptos"/>
              </a:rPr>
              <a:t>RESIDENCY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53728" y="3794760"/>
            <a:ext cx="173736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951232" y="3964838"/>
            <a:ext cx="342351" cy="4279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10029687" y="4093220"/>
            <a:ext cx="178308" cy="0"/>
          </a:xfrm>
          <a:prstGeom prst="line">
            <a:avLst/>
          </a:prstGeom>
          <a:ln w="12700">
            <a:solidFill>
              <a:srgbClr val="173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029687" y="4185940"/>
            <a:ext cx="178308" cy="0"/>
          </a:xfrm>
          <a:prstGeom prst="line">
            <a:avLst/>
          </a:prstGeom>
          <a:ln w="12700">
            <a:solidFill>
              <a:srgbClr val="173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029687" y="4278660"/>
            <a:ext cx="178308" cy="0"/>
          </a:xfrm>
          <a:prstGeom prst="line">
            <a:avLst/>
          </a:prstGeom>
          <a:ln w="12700">
            <a:solidFill>
              <a:srgbClr val="173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63455" y="4581144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1" i="0">
                <a:solidFill>
                  <a:srgbClr val="173F70"/>
                </a:solidFill>
                <a:latin typeface="Aptos"/>
              </a:rPr>
              <a:t>LICENSING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181344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27895"/>
                </a:solidFill>
                <a:latin typeface="Aptos"/>
              </a:rPr>
              <a:t>AI Architecture · Model decision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Why model selection is an architecture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The model changes not only answer quality, but also the shape of the entire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202936" y="2148840"/>
            <a:ext cx="1600200" cy="1600200"/>
          </a:xfrm>
          <a:prstGeom prst="ellipse">
            <a:avLst/>
          </a:prstGeom>
          <a:solidFill>
            <a:srgbClr val="ECF2FF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08599" y="2649931"/>
            <a:ext cx="588873" cy="5888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76848" y="2818180"/>
            <a:ext cx="252374" cy="252374"/>
          </a:xfrm>
          <a:prstGeom prst="rect">
            <a:avLst/>
          </a:prstGeom>
          <a:solidFill>
            <a:srgbClr val="ECF2FF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5603443" y="2755087"/>
            <a:ext cx="105156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97472" y="2755087"/>
            <a:ext cx="105156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13755" y="2544775"/>
            <a:ext cx="0" cy="105156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13755" y="3238804"/>
            <a:ext cx="0" cy="105156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03443" y="2944368"/>
            <a:ext cx="105156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97472" y="2944368"/>
            <a:ext cx="105156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03036" y="2544775"/>
            <a:ext cx="0" cy="105156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03036" y="3238804"/>
            <a:ext cx="0" cy="105156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03443" y="3133648"/>
            <a:ext cx="105156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97472" y="3133648"/>
            <a:ext cx="105156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92316" y="2544775"/>
            <a:ext cx="0" cy="105156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92316" y="3238804"/>
            <a:ext cx="0" cy="105156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76088" y="333756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73F70"/>
                </a:solidFill>
                <a:latin typeface="Aptos"/>
              </a:rPr>
              <a:t>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1874519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0704" y="2029967"/>
            <a:ext cx="1673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468F7"/>
                </a:solidFill>
                <a:latin typeface="Aptos"/>
              </a:rP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2322576"/>
            <a:ext cx="16642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0" i="0">
                <a:solidFill>
                  <a:srgbClr val="2D3642"/>
                </a:solidFill>
                <a:latin typeface="Aptos"/>
              </a:rPr>
              <a:t>What can the system do?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01952" y="2331720"/>
            <a:ext cx="4101084" cy="612648"/>
          </a:xfrm>
          <a:prstGeom prst="line">
            <a:avLst/>
          </a:prstGeom>
          <a:ln w="1397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34340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4" y="4498848"/>
            <a:ext cx="1673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D43D9"/>
                </a:solidFill>
                <a:latin typeface="Aptos"/>
              </a:rPr>
              <a:t>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791456"/>
            <a:ext cx="16642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0" i="0">
                <a:solidFill>
                  <a:srgbClr val="2D3642"/>
                </a:solidFill>
                <a:latin typeface="Aptos"/>
              </a:rPr>
              <a:t>How fast can it respond?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901952" y="2944368"/>
            <a:ext cx="4101084" cy="1856232"/>
          </a:xfrm>
          <a:prstGeom prst="line">
            <a:avLst/>
          </a:prstGeom>
          <a:ln w="13970">
            <a:solidFill>
              <a:srgbClr val="6D4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160520" y="4910328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06824" y="5065776"/>
            <a:ext cx="1673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07A3A"/>
                </a:solidFill>
                <a:latin typeface="Aptos"/>
              </a:rPr>
              <a:t>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6824" y="5358384"/>
            <a:ext cx="16642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0" i="0">
                <a:solidFill>
                  <a:srgbClr val="2D3642"/>
                </a:solidFill>
                <a:latin typeface="Aptos"/>
              </a:rPr>
              <a:t>What does success cost?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5148072" y="2944368"/>
            <a:ext cx="854964" cy="2423160"/>
          </a:xfrm>
          <a:prstGeom prst="line">
            <a:avLst/>
          </a:prstGeom>
          <a:ln w="13970">
            <a:solidFill>
              <a:srgbClr val="F07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26679" y="4910328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72983" y="5065776"/>
            <a:ext cx="1673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8F82"/>
                </a:solidFill>
                <a:latin typeface="Aptos"/>
              </a:rPr>
              <a:t>Data residency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72983" y="5358384"/>
            <a:ext cx="16642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0" i="0">
                <a:solidFill>
                  <a:srgbClr val="2D3642"/>
                </a:solidFill>
                <a:latin typeface="Aptos"/>
              </a:rPr>
              <a:t>Where can data flow?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6003036" y="2944368"/>
            <a:ext cx="2711196" cy="2423160"/>
          </a:xfrm>
          <a:prstGeom prst="line">
            <a:avLst/>
          </a:prstGeom>
          <a:ln w="13970">
            <a:solidFill>
              <a:srgbClr val="1F8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372600" y="1874519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18904" y="2029967"/>
            <a:ext cx="1673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73F70"/>
                </a:solidFill>
                <a:latin typeface="Aptos"/>
              </a:rPr>
              <a:t>Licensing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8904" y="2322576"/>
            <a:ext cx="16642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0" i="0">
                <a:solidFill>
                  <a:srgbClr val="2D3642"/>
                </a:solidFill>
                <a:latin typeface="Aptos"/>
              </a:rPr>
              <a:t>What are we allowed to do?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6003036" y="2331720"/>
            <a:ext cx="4357116" cy="612648"/>
          </a:xfrm>
          <a:prstGeom prst="line">
            <a:avLst/>
          </a:prstGeom>
          <a:ln w="13970">
            <a:solidFill>
              <a:srgbClr val="173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26080" y="5715000"/>
            <a:ext cx="6309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73F70"/>
                </a:solidFill>
                <a:latin typeface="Aptos"/>
              </a:rPr>
              <a:t>Model selection is a cross-functional architecture choice: business, security, legal, operations and engineering all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MODEL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Model landscape: proprietary vs open-weight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Two broad sourcing models — with several deployment options in between.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5349240" cy="452628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1444752"/>
            <a:ext cx="5349240" cy="452628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73F70"/>
                </a:solidFill>
                <a:latin typeface="Aptos Display"/>
              </a:rPr>
              <a:t>Proprietary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709928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F8F82"/>
                </a:solidFill>
                <a:latin typeface="Aptos Display"/>
              </a:rPr>
              <a:t>Open-weight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148840"/>
            <a:ext cx="16002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221992"/>
            <a:ext cx="1600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3468F7"/>
                </a:solidFill>
                <a:latin typeface="Aptos"/>
              </a:rPr>
              <a:t>API / managed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2148840"/>
            <a:ext cx="17373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2221992"/>
            <a:ext cx="17373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F8F82"/>
                </a:solidFill>
                <a:latin typeface="Aptos"/>
              </a:rPr>
              <a:t>Hosted or self-hosted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2761488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269748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2D3642"/>
                </a:solidFill>
                <a:latin typeface="Aptos"/>
              </a:rPr>
              <a:t>Fastest path to strong general-purpose capability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3291840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322783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2D3642"/>
                </a:solidFill>
                <a:latin typeface="Aptos"/>
              </a:rPr>
              <a:t>Provider operates model infrastructure and updates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3822192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3758184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2D3642"/>
                </a:solidFill>
                <a:latin typeface="Aptos"/>
              </a:rPr>
              <a:t>Commercial terms, regions and data controls are provider-specific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4352544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428853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2D3642"/>
                </a:solidFill>
                <a:latin typeface="Aptos"/>
              </a:rPr>
              <a:t>Less control over weights and low-level runtime</a:t>
            </a:r>
          </a:p>
        </p:txBody>
      </p:sp>
      <p:sp>
        <p:nvSpPr>
          <p:cNvPr id="24" name="Oval 23"/>
          <p:cNvSpPr/>
          <p:nvPr/>
        </p:nvSpPr>
        <p:spPr>
          <a:xfrm>
            <a:off x="6647688" y="2761488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0568" y="269748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2D3642"/>
                </a:solidFill>
                <a:latin typeface="Aptos"/>
              </a:rPr>
              <a:t>Weights are available under a license for local or managed deployment</a:t>
            </a:r>
          </a:p>
        </p:txBody>
      </p:sp>
      <p:sp>
        <p:nvSpPr>
          <p:cNvPr id="26" name="Oval 25"/>
          <p:cNvSpPr/>
          <p:nvPr/>
        </p:nvSpPr>
        <p:spPr>
          <a:xfrm>
            <a:off x="6647688" y="3291840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322783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2D3642"/>
                </a:solidFill>
                <a:latin typeface="Aptos"/>
              </a:rPr>
              <a:t>More control over infrastructure, tuning and data location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647688" y="3822192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30568" y="3758184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2D3642"/>
                </a:solidFill>
                <a:latin typeface="Aptos"/>
              </a:rPr>
              <a:t>Operations, capacity planning and optimization become your responsibility</a:t>
            </a:r>
          </a:p>
        </p:txBody>
      </p:sp>
      <p:sp>
        <p:nvSpPr>
          <p:cNvPr id="30" name="Oval 29"/>
          <p:cNvSpPr/>
          <p:nvPr/>
        </p:nvSpPr>
        <p:spPr>
          <a:xfrm>
            <a:off x="6647688" y="4352544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0568" y="428853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2D3642"/>
                </a:solidFill>
                <a:latin typeface="Aptos"/>
              </a:rPr>
              <a:t>License terms may still restrict commercial or downstream 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5504688"/>
            <a:ext cx="51663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03320" y="5614416"/>
            <a:ext cx="4800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D94A3A"/>
                </a:solidFill>
                <a:latin typeface="Aptos"/>
              </a:rPr>
              <a:t>Important: open-weight does not automatically mean open-source.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A practical model-selection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Start with constraints, not with a favourite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11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7512" y="2011680"/>
            <a:ext cx="384048" cy="384048"/>
          </a:xfrm>
          <a:prstGeom prst="ellipse">
            <a:avLst/>
          </a:prstGeom>
          <a:solidFill>
            <a:srgbClr val="3468F7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09397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06040"/>
            <a:ext cx="16824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73F70"/>
                </a:solidFill>
                <a:latin typeface="Aptos Display"/>
              </a:rPr>
              <a:t>Define the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10128"/>
            <a:ext cx="160934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D3642"/>
                </a:solidFill>
                <a:latin typeface="Aptos"/>
              </a:rPr>
              <a:t>Users, workflow, risk, success criteria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3438144"/>
            <a:ext cx="256032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07208" y="1828800"/>
            <a:ext cx="2011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71800" y="2011680"/>
            <a:ext cx="384048" cy="384048"/>
          </a:xfrm>
          <a:prstGeom prst="ellipse">
            <a:avLst/>
          </a:prstGeom>
          <a:solidFill>
            <a:srgbClr val="1F8F82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71800" y="209397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606040"/>
            <a:ext cx="16824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73F70"/>
                </a:solidFill>
                <a:latin typeface="Aptos Display"/>
              </a:rPr>
              <a:t>Set hard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3310128"/>
            <a:ext cx="160934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D3642"/>
                </a:solidFill>
                <a:latin typeface="Aptos"/>
              </a:rPr>
              <a:t>Residency, licensing, latency, budget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18888" y="3438144"/>
            <a:ext cx="256032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11496" y="1828800"/>
            <a:ext cx="2011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276088" y="2011680"/>
            <a:ext cx="384048" cy="384048"/>
          </a:xfrm>
          <a:prstGeom prst="ellipse">
            <a:avLst/>
          </a:prstGeom>
          <a:solidFill>
            <a:srgbClr val="6D43D9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76088" y="209397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606040"/>
            <a:ext cx="16824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73F70"/>
                </a:solidFill>
                <a:latin typeface="Aptos Display"/>
              </a:rPr>
              <a:t>Build a shortlist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310128"/>
            <a:ext cx="160934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D3642"/>
                </a:solidFill>
                <a:latin typeface="Aptos"/>
              </a:rPr>
              <a:t>Proprietary, open-weight, deployment options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23176" y="3438144"/>
            <a:ext cx="256032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15784" y="1828800"/>
            <a:ext cx="2011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80376" y="2011680"/>
            <a:ext cx="384048" cy="384048"/>
          </a:xfrm>
          <a:prstGeom prst="ellipse">
            <a:avLst/>
          </a:prstGeom>
          <a:solidFill>
            <a:srgbClr val="F07A3A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0376" y="209397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606040"/>
            <a:ext cx="16824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73F70"/>
                </a:solidFill>
                <a:latin typeface="Aptos Display"/>
              </a:rPr>
              <a:t>Evaluate on your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310128"/>
            <a:ext cx="160934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D3642"/>
                </a:solidFill>
                <a:latin typeface="Aptos"/>
              </a:rPr>
              <a:t>Test set, metrics, LLM judge, humans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27464" y="3438144"/>
            <a:ext cx="256032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20072" y="1828800"/>
            <a:ext cx="2011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884664" y="2011680"/>
            <a:ext cx="384048" cy="384048"/>
          </a:xfrm>
          <a:prstGeom prst="ellipse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84664" y="209397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4664" y="2606040"/>
            <a:ext cx="168249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73F70"/>
                </a:solidFill>
                <a:latin typeface="Aptos Display"/>
              </a:rPr>
              <a:t>Decide and monitor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3310128"/>
            <a:ext cx="160934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D3642"/>
                </a:solidFill>
                <a:latin typeface="Aptos"/>
              </a:rPr>
              <a:t>Choose, deploy, re-evaluate over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641848"/>
            <a:ext cx="7726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F8F82"/>
                </a:solidFill>
                <a:latin typeface="Aptos"/>
              </a:rPr>
              <a:t>The objective is not “the best model”. It is the best fit for a specific system and set of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SELECTION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The five decision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A useful scorecard separates non-negotiable constraints from trade-offs.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5422392" y="2770632"/>
            <a:ext cx="1316736" cy="1316736"/>
          </a:xfrm>
          <a:prstGeom prst="ellipse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0" y="33101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115568"/>
            <a:ext cx="18288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76088" y="1399031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3468F7"/>
                </a:solidFill>
                <a:latin typeface="Aptos"/>
              </a:rPr>
              <a:t>QUALITY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080760" y="1508760"/>
            <a:ext cx="0" cy="1920240"/>
          </a:xfrm>
          <a:prstGeom prst="line">
            <a:avLst/>
          </a:prstGeom>
          <a:ln w="1524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36192" y="2442421"/>
            <a:ext cx="18288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45920" y="2725885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D43D9"/>
                </a:solidFill>
                <a:latin typeface="Aptos"/>
              </a:rPr>
              <a:t>LATENCY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080760" y="2835613"/>
            <a:ext cx="2869832" cy="593387"/>
          </a:xfrm>
          <a:prstGeom prst="line">
            <a:avLst/>
          </a:prstGeom>
          <a:ln w="15240">
            <a:solidFill>
              <a:srgbClr val="6D4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0013" y="4589314"/>
            <a:ext cx="18288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9741" y="4872778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07A3A"/>
                </a:solidFill>
                <a:latin typeface="Aptos"/>
              </a:rPr>
              <a:t>COST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429000"/>
            <a:ext cx="1773653" cy="1553506"/>
          </a:xfrm>
          <a:prstGeom prst="line">
            <a:avLst/>
          </a:prstGeom>
          <a:ln w="15240">
            <a:solidFill>
              <a:srgbClr val="F07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92706" y="4589314"/>
            <a:ext cx="18288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02434" y="4872778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8F82"/>
                </a:solidFill>
                <a:latin typeface="Aptos"/>
              </a:rPr>
              <a:t>RESIDENCY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307106" y="3429000"/>
            <a:ext cx="1773654" cy="1553506"/>
          </a:xfrm>
          <a:prstGeom prst="line">
            <a:avLst/>
          </a:prstGeom>
          <a:ln w="15240">
            <a:solidFill>
              <a:srgbClr val="1F8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96527" y="2442421"/>
            <a:ext cx="18288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06255" y="2725885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73F70"/>
                </a:solidFill>
                <a:latin typeface="Aptos"/>
              </a:rPr>
              <a:t>LICENSING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3210927" y="2835613"/>
            <a:ext cx="2869833" cy="593387"/>
          </a:xfrm>
          <a:prstGeom prst="line">
            <a:avLst/>
          </a:prstGeom>
          <a:ln w="15240">
            <a:solidFill>
              <a:srgbClr val="173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0120" y="5596128"/>
            <a:ext cx="10287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40" b="0" i="0">
                <a:solidFill>
                  <a:srgbClr val="2D3642"/>
                </a:solidFill>
                <a:latin typeface="Aptos"/>
              </a:rPr>
              <a:t>Typical pattern: data residency and licensing are hard gates; quality, latency and cost are optimized within those gates.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Quality: fit for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Measure the behaviour that matters in the real workflow — not generic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481328"/>
            <a:ext cx="3703320" cy="452628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73F70"/>
                </a:solidFill>
                <a:latin typeface="Aptos Display"/>
              </a:rPr>
              <a:t>What “quality” can mean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2395727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331720"/>
            <a:ext cx="2926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Correctness and factuality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871215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807208"/>
            <a:ext cx="2926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Instruction following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346703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282696"/>
            <a:ext cx="2926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Groundedness in source documents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3822191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758183"/>
            <a:ext cx="2926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Reasoning and tool use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4297679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233671"/>
            <a:ext cx="2926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Language and domain fit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773167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4709159"/>
            <a:ext cx="2926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Consistency and formatting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1481328"/>
            <a:ext cx="7132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2" y="1783080"/>
            <a:ext cx="6355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73F70"/>
                </a:solidFill>
                <a:latin typeface="Aptos Display"/>
              </a:rPr>
              <a:t>Banking examples: quality depends on the use 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2331720"/>
            <a:ext cx="635508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65192" y="247802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173F70"/>
                </a:solidFill>
                <a:latin typeface="Aptos"/>
              </a:rPr>
              <a:t>Complaint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47802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2D3642"/>
                </a:solidFill>
                <a:latin typeface="Aptos"/>
              </a:rPr>
              <a:t>Correct category + rationale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478024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1F8F82"/>
                </a:solidFill>
                <a:latin typeface="Aptos"/>
              </a:rPr>
              <a:t>Classification / extraction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0600" y="3154679"/>
            <a:ext cx="63550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65192" y="330098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173F70"/>
                </a:solidFill>
                <a:latin typeface="Aptos"/>
              </a:rPr>
              <a:t>Policy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30098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2D3642"/>
                </a:solidFill>
                <a:latin typeface="Aptos"/>
              </a:rPr>
              <a:t>Answer supported by policy 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300984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1F8F82"/>
                </a:solidFill>
                <a:latin typeface="Aptos"/>
              </a:rPr>
              <a:t>RAG / grounding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600" y="3977639"/>
            <a:ext cx="635508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65192" y="412394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173F70"/>
                </a:solidFill>
                <a:latin typeface="Aptos"/>
              </a:rPr>
              <a:t>Credit memo draft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12394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2D3642"/>
                </a:solidFill>
                <a:latin typeface="Aptos"/>
              </a:rPr>
              <a:t>Complete, accurate, controlled tone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123944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1F8F82"/>
                </a:solidFill>
                <a:latin typeface="Aptos"/>
              </a:rPr>
              <a:t>Generation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4800600"/>
            <a:ext cx="63550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65192" y="494690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 i="0">
                <a:solidFill>
                  <a:srgbClr val="173F70"/>
                </a:solidFill>
                <a:latin typeface="Aptos"/>
              </a:rPr>
              <a:t>Agent workflow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94690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2D3642"/>
                </a:solidFill>
                <a:latin typeface="Aptos"/>
              </a:rPr>
              <a:t>Correct tool, parameters and stop condition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4946904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1F8F82"/>
                </a:solidFill>
                <a:latin typeface="Aptos"/>
              </a:rPr>
              <a:t>Tool use / agentic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Latency: user experience and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End-to-end latency is a system property, not only a model property.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707745" cy="658368"/>
          </a:xfrm>
          <a:prstGeom prst="rect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70774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Network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0705" y="1874519"/>
            <a:ext cx="471830" cy="658368"/>
          </a:xfrm>
          <a:prstGeom prst="rect">
            <a:avLst/>
          </a:prstGeom>
          <a:solidFill>
            <a:srgbClr val="627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0705" y="2057400"/>
            <a:ext cx="47183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Queue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2536" y="1874519"/>
            <a:ext cx="1179576" cy="658368"/>
          </a:xfrm>
          <a:prstGeom prst="rect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02536" y="2057400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Prefill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2112" y="1874519"/>
            <a:ext cx="2437790" cy="658368"/>
          </a:xfrm>
          <a:prstGeom prst="rect">
            <a:avLst/>
          </a:prstGeom>
          <a:solidFill>
            <a:srgbClr val="6D4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82112" y="2057400"/>
            <a:ext cx="243779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Decode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9902" y="1874519"/>
            <a:ext cx="1494129" cy="658368"/>
          </a:xfrm>
          <a:prstGeom prst="rect">
            <a:avLst/>
          </a:prstGeom>
          <a:solidFill>
            <a:srgbClr val="F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19902" y="2057400"/>
            <a:ext cx="149412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Tools /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67004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27895"/>
                </a:solidFill>
                <a:latin typeface="Aptos"/>
              </a:rPr>
              <a:t>Illustrative latency decomposition — actual proportions vary by workload and architecture.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554480"/>
            <a:ext cx="2606040" cy="1920240"/>
          </a:xfrm>
          <a:prstGeom prst="roundRect">
            <a:avLst/>
          </a:prstGeom>
          <a:solidFill>
            <a:srgbClr val="F2EFFD"/>
          </a:solidFill>
          <a:ln w="12700">
            <a:solidFill>
              <a:srgbClr val="F2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31552" y="194767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 flipV="1">
            <a:off x="10351008" y="2048256"/>
            <a:ext cx="0" cy="118872"/>
          </a:xfrm>
          <a:prstGeom prst="line">
            <a:avLst/>
          </a:prstGeom>
          <a:ln w="22860">
            <a:solidFill>
              <a:srgbClr val="6D4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51008" y="2167128"/>
            <a:ext cx="109728" cy="73152"/>
          </a:xfrm>
          <a:prstGeom prst="line">
            <a:avLst/>
          </a:prstGeom>
          <a:ln w="22860">
            <a:solidFill>
              <a:srgbClr val="6D4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72600" y="283464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D43D9"/>
                </a:solidFill>
                <a:latin typeface="Aptos"/>
              </a:rPr>
              <a:t>Measure p50, p95 and p99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307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73F70"/>
                </a:solidFill>
                <a:latin typeface="Aptos Display"/>
              </a:rPr>
              <a:t>Ways to reduce latency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6D4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416052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0" i="0">
                <a:solidFill>
                  <a:srgbClr val="2D3642"/>
                </a:solidFill>
                <a:latin typeface="Aptos"/>
              </a:rPr>
              <a:t>Use smaller / faster models for simpler tasks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" y="4663440"/>
            <a:ext cx="82296" cy="82296"/>
          </a:xfrm>
          <a:prstGeom prst="ellipse">
            <a:avLst/>
          </a:prstGeom>
          <a:solidFill>
            <a:srgbClr val="6D4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4599431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0" i="0">
                <a:solidFill>
                  <a:srgbClr val="2D3642"/>
                </a:solidFill>
                <a:latin typeface="Aptos"/>
              </a:rPr>
              <a:t>Stream tokens for interactive experiences</a:t>
            </a:r>
          </a:p>
        </p:txBody>
      </p:sp>
      <p:sp>
        <p:nvSpPr>
          <p:cNvPr id="29" name="Oval 28"/>
          <p:cNvSpPr/>
          <p:nvPr/>
        </p:nvSpPr>
        <p:spPr>
          <a:xfrm>
            <a:off x="841248" y="5102352"/>
            <a:ext cx="82296" cy="82296"/>
          </a:xfrm>
          <a:prstGeom prst="ellipse">
            <a:avLst/>
          </a:prstGeom>
          <a:solidFill>
            <a:srgbClr val="6D4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4128" y="5038344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0" i="0">
                <a:solidFill>
                  <a:srgbClr val="2D3642"/>
                </a:solidFill>
                <a:latin typeface="Aptos"/>
              </a:rPr>
              <a:t>Cache stable context and repeated results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" y="5541264"/>
            <a:ext cx="82296" cy="82296"/>
          </a:xfrm>
          <a:prstGeom prst="ellipse">
            <a:avLst/>
          </a:prstGeom>
          <a:solidFill>
            <a:srgbClr val="6D4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547725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0" i="0">
                <a:solidFill>
                  <a:srgbClr val="2D3642"/>
                </a:solidFill>
                <a:latin typeface="Aptos"/>
              </a:rPr>
              <a:t>Reduce prompt and retrieved context size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3730752"/>
            <a:ext cx="6053328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70448" y="400507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73F70"/>
                </a:solidFill>
                <a:latin typeface="Aptos Display"/>
              </a:rPr>
              <a:t>Architecture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8" y="4498848"/>
            <a:ext cx="52852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2D3642"/>
                </a:solidFill>
                <a:latin typeface="Aptos"/>
              </a:rPr>
              <a:t>What response time does the user actually need — and which parts of the workflow can be asynchronous?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Cost: optimize cost per successful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Token price is only one component of the economics.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257800" cy="301752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554480"/>
            <a:ext cx="5257800" cy="301752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73F70"/>
                </a:solidFill>
                <a:latin typeface="Aptos Display"/>
              </a:rPr>
              <a:t>Managed / proprietary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8F82"/>
                </a:solidFill>
                <a:latin typeface="Aptos Display"/>
              </a:rPr>
              <a:t>Open-weight / self-hosted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423160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359152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D3642"/>
                </a:solidFill>
                <a:latin typeface="Aptos"/>
              </a:rPr>
              <a:t>Input + output token charges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880360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816352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D3642"/>
                </a:solidFill>
                <a:latin typeface="Aptos"/>
              </a:rPr>
              <a:t>Optional tool / retrieval / fine-tuning charges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337560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D3642"/>
                </a:solidFill>
                <a:latin typeface="Aptos"/>
              </a:rPr>
              <a:t>Low infrastructure management overhead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794760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730752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D3642"/>
                </a:solidFill>
                <a:latin typeface="Aptos"/>
              </a:rPr>
              <a:t>Easy elasticity, but variable usage bill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2423160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2359152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D3642"/>
                </a:solidFill>
                <a:latin typeface="Aptos"/>
              </a:rPr>
              <a:t>GPU / accelerator capacity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2880360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2816352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D3642"/>
                </a:solidFill>
                <a:latin typeface="Aptos"/>
              </a:rPr>
              <a:t>Hosting, observability and engineering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3337560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3273552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D3642"/>
                </a:solidFill>
                <a:latin typeface="Aptos"/>
              </a:rPr>
              <a:t>Idle capacity and peak provisioning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3794760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3730752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D3642"/>
                </a:solidFill>
                <a:latin typeface="Aptos"/>
              </a:rPr>
              <a:t>Potentially lower unit cost at sustained scale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4901184"/>
            <a:ext cx="918972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83080" y="5084064"/>
            <a:ext cx="8641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20" b="1" i="0">
                <a:solidFill>
                  <a:srgbClr val="F07A3A"/>
                </a:solidFill>
                <a:latin typeface="Aptos"/>
              </a:rPr>
              <a:t>Cost per successful task = total run cost ÷ number of tasks meeting the required quality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870448"/>
            <a:ext cx="7818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80" b="0" i="0">
                <a:solidFill>
                  <a:srgbClr val="2D3642"/>
                </a:solidFill>
                <a:latin typeface="Aptos"/>
              </a:rPr>
              <a:t>A cheaper model is expensive if it causes more retries, escalations or manual correction.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Data residency &amp;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Map the data flow before choosing the model or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3468F7"/>
                </a:solidFill>
                <a:latin typeface="Aptos"/>
              </a:rPr>
              <a:t>User /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3317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259689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73F70"/>
                </a:solidFill>
                <a:latin typeface="Aptos"/>
              </a:rPr>
              <a:t>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3317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259689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D43D9"/>
                </a:solidFill>
                <a:latin typeface="Aptos"/>
              </a:rPr>
              <a:t>Model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3317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259689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8F82"/>
                </a:solidFill>
                <a:latin typeface="Aptos"/>
              </a:rPr>
              <a:t>Logs / 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3317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19" y="259689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07A3A"/>
                </a:solidFill>
                <a:latin typeface="Aptos"/>
              </a:rPr>
              <a:t>Storage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31720" y="2752344"/>
            <a:ext cx="685800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840" y="2752344"/>
            <a:ext cx="777240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" y="2752344"/>
            <a:ext cx="960120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06840" y="2752344"/>
            <a:ext cx="777240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3840480"/>
            <a:ext cx="10972800" cy="178308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2688" y="4142232"/>
            <a:ext cx="384048" cy="384048"/>
          </a:xfrm>
          <a:prstGeom prst="ellipse">
            <a:avLst/>
          </a:prstGeom>
          <a:solidFill>
            <a:srgbClr val="1F8F82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22452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78808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2D3642"/>
                </a:solidFill>
                <a:latin typeface="Aptos"/>
              </a:rPr>
              <a:t>Where are prompts, retrieved context and outputs processed?</a:t>
            </a:r>
          </a:p>
        </p:txBody>
      </p:sp>
      <p:sp>
        <p:nvSpPr>
          <p:cNvPr id="26" name="Oval 25"/>
          <p:cNvSpPr/>
          <p:nvPr/>
        </p:nvSpPr>
        <p:spPr>
          <a:xfrm>
            <a:off x="6281927" y="4142232"/>
            <a:ext cx="384048" cy="384048"/>
          </a:xfrm>
          <a:prstGeom prst="ellipse">
            <a:avLst/>
          </a:prstGeom>
          <a:solidFill>
            <a:srgbClr val="1F8F82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81927" y="422452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79" y="4178808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2D3642"/>
                </a:solidFill>
                <a:latin typeface="Aptos"/>
              </a:rPr>
              <a:t>Where are logs, traces and evaluation data stored?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" y="4800600"/>
            <a:ext cx="384048" cy="384048"/>
          </a:xfrm>
          <a:prstGeom prst="ellipse">
            <a:avLst/>
          </a:prstGeom>
          <a:solidFill>
            <a:srgbClr val="1F8F82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488289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837176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2D3642"/>
                </a:solidFill>
                <a:latin typeface="Aptos"/>
              </a:rPr>
              <a:t>Is customer data used for provider training or service improvement?</a:t>
            </a:r>
          </a:p>
        </p:txBody>
      </p:sp>
      <p:sp>
        <p:nvSpPr>
          <p:cNvPr id="32" name="Oval 31"/>
          <p:cNvSpPr/>
          <p:nvPr/>
        </p:nvSpPr>
        <p:spPr>
          <a:xfrm>
            <a:off x="6281927" y="4800600"/>
            <a:ext cx="384048" cy="384048"/>
          </a:xfrm>
          <a:prstGeom prst="ellipse">
            <a:avLst/>
          </a:prstGeom>
          <a:solidFill>
            <a:srgbClr val="1F8F82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81927" y="488289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79" y="4837176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2D3642"/>
                </a:solidFill>
                <a:latin typeface="Aptos"/>
              </a:rPr>
              <a:t>Can encryption keys, region and retention be controlled?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Licensing: what are you legally allowed to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Open weights create flexibility — but the license defines the usable freedom.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627632"/>
            <a:ext cx="2011680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80160" y="1874519"/>
            <a:ext cx="530352" cy="530352"/>
          </a:xfrm>
          <a:prstGeom prst="ellipse">
            <a:avLst/>
          </a:prstGeom>
          <a:solidFill>
            <a:srgbClr val="F5F8FC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74160" y="1925726"/>
            <a:ext cx="342351" cy="4279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1452615" y="2054108"/>
            <a:ext cx="178308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52615" y="2146828"/>
            <a:ext cx="178308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52615" y="2239548"/>
            <a:ext cx="178308" cy="0"/>
          </a:xfrm>
          <a:prstGeom prst="line">
            <a:avLst/>
          </a:prstGeom>
          <a:ln w="12700">
            <a:solidFill>
              <a:srgbClr val="346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4944" y="2615184"/>
            <a:ext cx="1682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 i="0">
                <a:solidFill>
                  <a:srgbClr val="173F70"/>
                </a:solidFill>
                <a:latin typeface="Aptos Display"/>
              </a:rPr>
              <a:t>Commercial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46120"/>
            <a:ext cx="164592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Can the model be used in paid products?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" y="4297680"/>
            <a:ext cx="1188720" cy="31089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4370832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3468F7"/>
                </a:solidFill>
                <a:latin typeface="Aptos"/>
              </a:rPr>
              <a:t>CHECK THE LICENSE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6352" y="1627632"/>
            <a:ext cx="2011680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566160" y="1874519"/>
            <a:ext cx="530352" cy="530352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60160" y="1925726"/>
            <a:ext cx="342351" cy="4279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3738615" y="2054108"/>
            <a:ext cx="178308" cy="0"/>
          </a:xfrm>
          <a:prstGeom prst="line">
            <a:avLst/>
          </a:prstGeom>
          <a:ln w="12700">
            <a:solidFill>
              <a:srgbClr val="1F8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38615" y="2146828"/>
            <a:ext cx="178308" cy="0"/>
          </a:xfrm>
          <a:prstGeom prst="line">
            <a:avLst/>
          </a:prstGeom>
          <a:ln w="12700">
            <a:solidFill>
              <a:srgbClr val="1F8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38615" y="2239548"/>
            <a:ext cx="178308" cy="0"/>
          </a:xfrm>
          <a:prstGeom prst="line">
            <a:avLst/>
          </a:prstGeom>
          <a:ln w="12700">
            <a:solidFill>
              <a:srgbClr val="1F8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80944" y="2615184"/>
            <a:ext cx="1682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 i="0">
                <a:solidFill>
                  <a:srgbClr val="173F70"/>
                </a:solidFill>
                <a:latin typeface="Aptos Display"/>
              </a:rPr>
              <a:t>Redistribution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3246120"/>
            <a:ext cx="164592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Can weights or derivatives be shared?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4297680"/>
            <a:ext cx="1188720" cy="31089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27832" y="4370832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F8F82"/>
                </a:solidFill>
                <a:latin typeface="Aptos"/>
              </a:rPr>
              <a:t>CHECK THE LICENSE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2352" y="1627632"/>
            <a:ext cx="2011680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852160" y="1874519"/>
            <a:ext cx="530352" cy="530352"/>
          </a:xfrm>
          <a:prstGeom prst="ellipse">
            <a:avLst/>
          </a:prstGeom>
          <a:solidFill>
            <a:srgbClr val="F5F8FC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46160" y="1925726"/>
            <a:ext cx="342351" cy="4279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6024615" y="2054108"/>
            <a:ext cx="178308" cy="0"/>
          </a:xfrm>
          <a:prstGeom prst="line">
            <a:avLst/>
          </a:prstGeom>
          <a:ln w="12700">
            <a:solidFill>
              <a:srgbClr val="6D4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24615" y="2146828"/>
            <a:ext cx="178308" cy="0"/>
          </a:xfrm>
          <a:prstGeom prst="line">
            <a:avLst/>
          </a:prstGeom>
          <a:ln w="12700">
            <a:solidFill>
              <a:srgbClr val="6D4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24615" y="2239548"/>
            <a:ext cx="178308" cy="0"/>
          </a:xfrm>
          <a:prstGeom prst="line">
            <a:avLst/>
          </a:prstGeom>
          <a:ln w="12700">
            <a:solidFill>
              <a:srgbClr val="6D4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66944" y="2615184"/>
            <a:ext cx="1682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 i="0">
                <a:solidFill>
                  <a:srgbClr val="173F70"/>
                </a:solidFill>
                <a:latin typeface="Aptos Display"/>
              </a:rPr>
              <a:t>Modification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5232" y="3246120"/>
            <a:ext cx="164592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Can you fine-tune or create derivatives?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13832" y="4297680"/>
            <a:ext cx="1188720" cy="31089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13832" y="4370832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6D43D9"/>
                </a:solidFill>
                <a:latin typeface="Aptos"/>
              </a:rPr>
              <a:t>CHECK THE LICENSE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88352" y="1627632"/>
            <a:ext cx="2011680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38160" y="1874519"/>
            <a:ext cx="530352" cy="530352"/>
          </a:xfrm>
          <a:prstGeom prst="ellipse">
            <a:avLst/>
          </a:prstGeom>
          <a:solidFill>
            <a:srgbClr val="F5F8FC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232160" y="1925726"/>
            <a:ext cx="342351" cy="4279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8310615" y="2054108"/>
            <a:ext cx="178308" cy="0"/>
          </a:xfrm>
          <a:prstGeom prst="line">
            <a:avLst/>
          </a:prstGeom>
          <a:ln w="12700">
            <a:solidFill>
              <a:srgbClr val="F07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10615" y="2146828"/>
            <a:ext cx="178308" cy="0"/>
          </a:xfrm>
          <a:prstGeom prst="line">
            <a:avLst/>
          </a:prstGeom>
          <a:ln w="12700">
            <a:solidFill>
              <a:srgbClr val="F07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10615" y="2239548"/>
            <a:ext cx="178308" cy="0"/>
          </a:xfrm>
          <a:prstGeom prst="line">
            <a:avLst/>
          </a:prstGeom>
          <a:ln w="12700">
            <a:solidFill>
              <a:srgbClr val="F07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552944" y="2615184"/>
            <a:ext cx="1682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 i="0">
                <a:solidFill>
                  <a:srgbClr val="173F70"/>
                </a:solidFill>
                <a:latin typeface="Aptos Display"/>
              </a:rPr>
              <a:t>Attribution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1" y="3246120"/>
            <a:ext cx="164592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What notices must be retained?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99831" y="4297680"/>
            <a:ext cx="1188720" cy="31089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99831" y="4370832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F07A3A"/>
                </a:solidFill>
                <a:latin typeface="Aptos"/>
              </a:rPr>
              <a:t>CHECK THE LICENSE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74352" y="1627632"/>
            <a:ext cx="2011680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424160" y="1874519"/>
            <a:ext cx="530352" cy="530352"/>
          </a:xfrm>
          <a:prstGeom prst="ellipse">
            <a:avLst/>
          </a:prstGeom>
          <a:solidFill>
            <a:srgbClr val="F5F8FC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518160" y="1925726"/>
            <a:ext cx="342351" cy="4279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10596615" y="2054108"/>
            <a:ext cx="178308" cy="0"/>
          </a:xfrm>
          <a:prstGeom prst="line">
            <a:avLst/>
          </a:prstGeom>
          <a:ln w="12700">
            <a:solidFill>
              <a:srgbClr val="D94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96615" y="2146828"/>
            <a:ext cx="178308" cy="0"/>
          </a:xfrm>
          <a:prstGeom prst="line">
            <a:avLst/>
          </a:prstGeom>
          <a:ln w="12700">
            <a:solidFill>
              <a:srgbClr val="D94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596615" y="2239548"/>
            <a:ext cx="178308" cy="0"/>
          </a:xfrm>
          <a:prstGeom prst="line">
            <a:avLst/>
          </a:prstGeom>
          <a:ln w="12700">
            <a:solidFill>
              <a:srgbClr val="D94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838944" y="2615184"/>
            <a:ext cx="1682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 i="0">
                <a:solidFill>
                  <a:srgbClr val="173F70"/>
                </a:solidFill>
                <a:latin typeface="Aptos Display"/>
              </a:rPr>
              <a:t>Restrictions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57232" y="3246120"/>
            <a:ext cx="164592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Are sectors, scale or uses limited?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85832" y="4297680"/>
            <a:ext cx="1188720" cy="31089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085832" y="4370832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D94A3A"/>
                </a:solidFill>
                <a:latin typeface="Aptos"/>
              </a:rPr>
              <a:t>CHECK THE LICENSE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17320" y="5239512"/>
            <a:ext cx="9372600" cy="475488"/>
          </a:xfrm>
          <a:prstGeom prst="roundRect">
            <a:avLst/>
          </a:prstGeom>
          <a:solidFill>
            <a:srgbClr val="FDEFEE"/>
          </a:solidFill>
          <a:ln w="12700">
            <a:solidFill>
              <a:srgbClr val="FD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600200" y="5367528"/>
            <a:ext cx="9006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90" b="1" i="0">
                <a:solidFill>
                  <a:srgbClr val="D94A3A"/>
                </a:solidFill>
                <a:latin typeface="Aptos"/>
              </a:rPr>
              <a:t>Architecture implication: licensing is a hard gate, not an afterthought after technical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From benchmark to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Public benchmarks help with discovery; your test set decides fitness for your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074920" cy="425196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6520" y="1600200"/>
            <a:ext cx="5074920" cy="425196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F70"/>
                </a:solidFill>
                <a:latin typeface="Aptos Display"/>
              </a:rPr>
              <a:t>Public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8F82"/>
                </a:solidFill>
                <a:latin typeface="Aptos Display"/>
              </a:rPr>
              <a:t>Your representative test set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532888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468880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Useful for broad comparison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044952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980944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Fast screening of many candidates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557016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493008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Often disconnected from your workflow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069080"/>
            <a:ext cx="82296" cy="82296"/>
          </a:xfrm>
          <a:prstGeom prst="ellipse">
            <a:avLst/>
          </a:prstGeom>
          <a:solidFill>
            <a:srgbClr val="346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005072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May over-represent benchmark-specific skills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2532888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468880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Built from realistic inputs and expected behaviours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3044952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2980944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Includes important languages, formats and edge cases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3557016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3493008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Reflects risk and business impact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0" y="4069080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4005072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2D3642"/>
                </a:solidFill>
                <a:latin typeface="Aptos"/>
              </a:rPr>
              <a:t>Becomes the regression suite for future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6512" y="533095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73F70"/>
                </a:solidFill>
                <a:latin typeface="Aptos"/>
              </a:rPr>
              <a:t>Benchmarks shortlist. Test sets decide.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TEST SET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Designing a high-quality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Coverage matters more than raw size.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828800"/>
            <a:ext cx="2048255" cy="512064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23160" y="1984248"/>
            <a:ext cx="20482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9" b="1" i="0">
                <a:solidFill>
                  <a:srgbClr val="3468F7"/>
                </a:solidFill>
                <a:latin typeface="Aptos"/>
              </a:rPr>
              <a:t>Common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1828800"/>
            <a:ext cx="2048255" cy="512064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984248"/>
            <a:ext cx="20482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9" b="1" i="0">
                <a:solidFill>
                  <a:srgbClr val="3468F7"/>
                </a:solidFill>
                <a:latin typeface="Aptos"/>
              </a:rPr>
              <a:t>Hard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5975" y="1828800"/>
            <a:ext cx="2048255" cy="512064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5975" y="1984248"/>
            <a:ext cx="20482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9" b="1" i="0">
                <a:solidFill>
                  <a:srgbClr val="3468F7"/>
                </a:solidFill>
                <a:latin typeface="Aptos"/>
              </a:rPr>
              <a:t>Edge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87384" y="1828800"/>
            <a:ext cx="2048255" cy="512064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87384" y="1984248"/>
            <a:ext cx="20482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9" b="1" i="0">
                <a:solidFill>
                  <a:srgbClr val="3468F7"/>
                </a:solidFill>
                <a:latin typeface="Aptos"/>
              </a:rPr>
              <a:t>Adversarial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87168"/>
            <a:ext cx="1572768" cy="59436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670048"/>
            <a:ext cx="13533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F8F82"/>
                </a:solidFill>
                <a:latin typeface="Aptos"/>
              </a:rPr>
              <a:t>Task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2487168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60" y="2651760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89A78"/>
                </a:solidFill>
                <a:latin typeface="Aptos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2487168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4568" y="2651760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89A78"/>
                </a:solidFill>
                <a:latin typeface="Aptos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5975" y="2487168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65975" y="2651760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27895"/>
                </a:solidFill>
                <a:latin typeface="Aptos"/>
              </a:rPr>
              <a:t>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87384" y="2487168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7384" y="2651760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07A3A"/>
                </a:solidFill>
                <a:latin typeface="Aptos"/>
              </a:rPr>
              <a:t>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91839"/>
            <a:ext cx="1572768" cy="59436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3474720"/>
            <a:ext cx="13533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F8F82"/>
                </a:solidFill>
                <a:latin typeface="Aptos"/>
              </a:rPr>
              <a:t>Languages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3291839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23160" y="3456432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89A78"/>
                </a:solidFill>
                <a:latin typeface="Aptos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44568" y="3291839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44568" y="3456432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27895"/>
                </a:solidFill>
                <a:latin typeface="Aptos"/>
              </a:rPr>
              <a:t>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5975" y="3291839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65975" y="3456432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07A3A"/>
                </a:solidFill>
                <a:latin typeface="Aptos"/>
              </a:rPr>
              <a:t>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7384" y="3291839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7384" y="3456432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89A78"/>
                </a:solidFill>
                <a:latin typeface="Aptos"/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096511"/>
            <a:ext cx="1572768" cy="59436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4279392"/>
            <a:ext cx="13533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F8F82"/>
                </a:solidFill>
                <a:latin typeface="Aptos"/>
              </a:rPr>
              <a:t>Document types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23160" y="4096511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3160" y="4261104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27895"/>
                </a:solidFill>
                <a:latin typeface="Aptos"/>
              </a:rPr>
              <a:t>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44568" y="4096511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44568" y="4261104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07A3A"/>
                </a:solidFill>
                <a:latin typeface="Aptos"/>
              </a:rPr>
              <a:t>!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5975" y="4096511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65975" y="4261104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89A78"/>
                </a:solidFill>
                <a:latin typeface="Aptos"/>
              </a:rPr>
              <a:t>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87384" y="4096511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787384" y="4261104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89A78"/>
                </a:solidFill>
                <a:latin typeface="Aptos"/>
              </a:rPr>
              <a:t>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901183"/>
            <a:ext cx="1572768" cy="59436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5084064"/>
            <a:ext cx="13533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F8F82"/>
                </a:solidFill>
                <a:latin typeface="Aptos"/>
              </a:rPr>
              <a:t>Risk levels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23160" y="4901183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23160" y="5065776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07A3A"/>
                </a:solidFill>
                <a:latin typeface="Aptos"/>
              </a:rPr>
              <a:t>!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44568" y="4901183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44568" y="5065776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89A78"/>
                </a:solidFill>
                <a:latin typeface="Aptos"/>
              </a:rP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65975" y="4901183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65975" y="5065776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89A78"/>
                </a:solidFill>
                <a:latin typeface="Aptos"/>
              </a:rPr>
              <a:t>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87384" y="4901183"/>
            <a:ext cx="20482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87384" y="5065776"/>
            <a:ext cx="2048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27895"/>
                </a:solidFill>
                <a:latin typeface="Aptos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12848" y="5870448"/>
            <a:ext cx="7818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80" b="0" i="0">
                <a:solidFill>
                  <a:srgbClr val="2D3642"/>
                </a:solidFill>
                <a:latin typeface="Aptos"/>
              </a:rPr>
              <a:t>Include expected answers where possible — and explicit rubrics where a single “golden answer” does not exist.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Evaluation metrics: choose by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Different tasks need different definitions of “good”.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972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1719072"/>
            <a:ext cx="1444752" cy="45720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865376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3468F7"/>
                </a:solidFill>
                <a:latin typeface="Aptos"/>
              </a:rPr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719072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 i="0">
                <a:solidFill>
                  <a:srgbClr val="173F70"/>
                </a:solidFill>
                <a:latin typeface="Aptos"/>
              </a:rPr>
              <a:t>Accuracy, precision, recall,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19072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2D3642"/>
                </a:solidFill>
                <a:latin typeface="Aptos"/>
              </a:rPr>
              <a:t>Use class-level metrics when error costs differ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50591"/>
            <a:ext cx="10972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" y="2615184"/>
            <a:ext cx="1444752" cy="45720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61487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1F8F82"/>
                </a:solidFill>
                <a:latin typeface="Aptos"/>
              </a:rPr>
              <a:t>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615184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 i="0">
                <a:solidFill>
                  <a:srgbClr val="173F70"/>
                </a:solidFill>
                <a:latin typeface="Aptos"/>
              </a:rPr>
              <a:t>Exact match, field accuracy, validity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15184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2D3642"/>
                </a:solidFill>
                <a:latin typeface="Aptos"/>
              </a:rPr>
              <a:t>Check schema and normalization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46703"/>
            <a:ext cx="10972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3511296"/>
            <a:ext cx="1444752" cy="457200"/>
          </a:xfrm>
          <a:prstGeom prst="roundRect">
            <a:avLst/>
          </a:prstGeom>
          <a:solidFill>
            <a:srgbClr val="F2EFFD"/>
          </a:solidFill>
          <a:ln w="12700">
            <a:solidFill>
              <a:srgbClr val="F2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57599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6D43D9"/>
                </a:solidFill>
                <a:latin typeface="Aptos"/>
              </a:rPr>
              <a:t>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511296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 i="0">
                <a:solidFill>
                  <a:srgbClr val="173F70"/>
                </a:solidFill>
                <a:latin typeface="Aptos"/>
              </a:rPr>
              <a:t>Factuality, completeness, relevance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11296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2D3642"/>
                </a:solidFill>
                <a:latin typeface="Aptos"/>
              </a:rPr>
              <a:t>Often rubric-based or judge-based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42816"/>
            <a:ext cx="10972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4672" y="4407407"/>
            <a:ext cx="1444752" cy="457200"/>
          </a:xfrm>
          <a:prstGeom prst="roundRect">
            <a:avLst/>
          </a:prstGeom>
          <a:solidFill>
            <a:srgbClr val="FDF3EC"/>
          </a:solidFill>
          <a:ln w="12700">
            <a:solidFill>
              <a:srgbClr val="FD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4553712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F07A3A"/>
                </a:solidFill>
                <a:latin typeface="Aptos"/>
              </a:rP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407407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 i="0">
                <a:solidFill>
                  <a:srgbClr val="173F70"/>
                </a:solidFill>
                <a:latin typeface="Aptos"/>
              </a:rPr>
              <a:t>Retrieval + faithfulness + answer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407407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2D3642"/>
                </a:solidFill>
                <a:latin typeface="Aptos"/>
              </a:rPr>
              <a:t>Evaluate retrieval and generation separately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38927"/>
            <a:ext cx="10972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4672" y="5303519"/>
            <a:ext cx="1444752" cy="457200"/>
          </a:xfrm>
          <a:prstGeom prst="roundRect">
            <a:avLst/>
          </a:prstGeom>
          <a:solidFill>
            <a:srgbClr val="FDEFEE"/>
          </a:solidFill>
          <a:ln w="12700">
            <a:solidFill>
              <a:srgbClr val="FD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5449823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D94A3A"/>
                </a:solidFill>
                <a:latin typeface="Aptos"/>
              </a:rPr>
              <a:t>Agentic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303519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 i="0">
                <a:solidFill>
                  <a:srgbClr val="173F70"/>
                </a:solidFill>
                <a:latin typeface="Aptos"/>
              </a:rPr>
              <a:t>Tool choice, arguments, completion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303519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2D3642"/>
                </a:solidFill>
                <a:latin typeface="Aptos"/>
              </a:rPr>
              <a:t>Also measure unsafe / unnecessary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Generation evaluation: no single metric is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Use a multidimensional rubric for open-ended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45920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" y="1883664"/>
            <a:ext cx="329184" cy="329184"/>
          </a:xfrm>
          <a:prstGeom prst="ellipse">
            <a:avLst/>
          </a:prstGeom>
          <a:solidFill>
            <a:srgbClr val="3468F7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16736" y="1865376"/>
            <a:ext cx="25054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3F70"/>
                </a:solidFill>
                <a:latin typeface="Aptos Display"/>
              </a:rPr>
              <a:t>Factuality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10" b="0" i="0">
                <a:solidFill>
                  <a:srgbClr val="2D3642"/>
                </a:solidFill>
                <a:latin typeface="Aptos"/>
              </a:rPr>
              <a:t>Are claims correct?</a:t>
            </a:r>
          </a:p>
        </p:txBody>
      </p:sp>
      <p:sp>
        <p:nvSpPr>
          <p:cNvPr id="12" name="Oval 11"/>
          <p:cNvSpPr/>
          <p:nvPr/>
        </p:nvSpPr>
        <p:spPr>
          <a:xfrm>
            <a:off x="1252728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3468F7"/>
                </a:solidFill>
                <a:latin typeface="Aptos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709928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09928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3468F7"/>
                </a:solidFill>
                <a:latin typeface="Aptos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2167128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67128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3468F7"/>
                </a:solidFill>
                <a:latin typeface="Aptos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2624328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24328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3468F7"/>
                </a:solidFill>
                <a:latin typeface="Aptos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3081528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81528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3468F7"/>
                </a:solidFill>
                <a:latin typeface="Apto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1645920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81727" y="1883664"/>
            <a:ext cx="329184" cy="329184"/>
          </a:xfrm>
          <a:prstGeom prst="ellipse">
            <a:avLst/>
          </a:prstGeom>
          <a:solidFill>
            <a:srgbClr val="1F8F82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38927" y="1865376"/>
            <a:ext cx="25054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3F70"/>
                </a:solidFill>
                <a:latin typeface="Aptos Display"/>
              </a:rPr>
              <a:t>Completeness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2404872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10" b="0" i="0">
                <a:solidFill>
                  <a:srgbClr val="2D3642"/>
                </a:solidFill>
                <a:latin typeface="Aptos"/>
              </a:rPr>
              <a:t>Are required points covered?</a:t>
            </a:r>
          </a:p>
        </p:txBody>
      </p:sp>
      <p:sp>
        <p:nvSpPr>
          <p:cNvPr id="26" name="Oval 25"/>
          <p:cNvSpPr/>
          <p:nvPr/>
        </p:nvSpPr>
        <p:spPr>
          <a:xfrm>
            <a:off x="5074920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F8F82"/>
                </a:solidFill>
                <a:latin typeface="Aptos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5532120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32120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F8F82"/>
                </a:solidFill>
                <a:latin typeface="Aptos"/>
              </a:rP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989320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89320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F8F82"/>
                </a:solidFill>
                <a:latin typeface="Aptos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F8F82"/>
                </a:solidFill>
                <a:latin typeface="Aptos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6903720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03720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F8F82"/>
                </a:solidFill>
                <a:latin typeface="Aptos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02752" y="1645920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503920" y="1883664"/>
            <a:ext cx="329184" cy="329184"/>
          </a:xfrm>
          <a:prstGeom prst="ellipse">
            <a:avLst/>
          </a:prstGeom>
          <a:solidFill>
            <a:srgbClr val="6D43D9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0" y="1865376"/>
            <a:ext cx="25054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3F70"/>
                </a:solidFill>
                <a:latin typeface="Aptos Display"/>
              </a:rPr>
              <a:t>Relevance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8784" y="2404872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10" b="0" i="0">
                <a:solidFill>
                  <a:srgbClr val="2D3642"/>
                </a:solidFill>
                <a:latin typeface="Aptos"/>
              </a:rPr>
              <a:t>Does the answer address the task?</a:t>
            </a:r>
          </a:p>
        </p:txBody>
      </p:sp>
      <p:sp>
        <p:nvSpPr>
          <p:cNvPr id="40" name="Oval 39"/>
          <p:cNvSpPr/>
          <p:nvPr/>
        </p:nvSpPr>
        <p:spPr>
          <a:xfrm>
            <a:off x="8897112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97112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6D43D9"/>
                </a:solidFill>
                <a:latin typeface="Aptos"/>
              </a:rPr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9354312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54312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6D43D9"/>
                </a:solidFill>
                <a:latin typeface="Aptos"/>
              </a:rPr>
              <a:t>2</a:t>
            </a:r>
          </a:p>
        </p:txBody>
      </p:sp>
      <p:sp>
        <p:nvSpPr>
          <p:cNvPr id="44" name="Oval 43"/>
          <p:cNvSpPr/>
          <p:nvPr/>
        </p:nvSpPr>
        <p:spPr>
          <a:xfrm>
            <a:off x="9811512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11512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6D43D9"/>
                </a:solidFill>
                <a:latin typeface="Aptos"/>
              </a:rPr>
              <a:t>3</a:t>
            </a:r>
          </a:p>
        </p:txBody>
      </p:sp>
      <p:sp>
        <p:nvSpPr>
          <p:cNvPr id="46" name="Oval 45"/>
          <p:cNvSpPr/>
          <p:nvPr/>
        </p:nvSpPr>
        <p:spPr>
          <a:xfrm>
            <a:off x="10268712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68712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6D43D9"/>
                </a:solidFill>
                <a:latin typeface="Aptos"/>
              </a:rPr>
              <a:t>4</a:t>
            </a:r>
          </a:p>
        </p:txBody>
      </p:sp>
      <p:sp>
        <p:nvSpPr>
          <p:cNvPr id="48" name="Oval 47"/>
          <p:cNvSpPr/>
          <p:nvPr/>
        </p:nvSpPr>
        <p:spPr>
          <a:xfrm>
            <a:off x="10725912" y="2907791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725912" y="293065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6D43D9"/>
                </a:solidFill>
                <a:latin typeface="Aptos"/>
              </a:rP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3749039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59536" y="3986783"/>
            <a:ext cx="329184" cy="329184"/>
          </a:xfrm>
          <a:prstGeom prst="ellipse">
            <a:avLst/>
          </a:prstGeom>
          <a:solidFill>
            <a:srgbClr val="F07A3A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16736" y="3968496"/>
            <a:ext cx="25054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3F70"/>
                </a:solidFill>
                <a:latin typeface="Aptos Display"/>
              </a:rPr>
              <a:t>Instruction following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507992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10" b="0" i="0">
                <a:solidFill>
                  <a:srgbClr val="2D3642"/>
                </a:solidFill>
                <a:latin typeface="Aptos"/>
              </a:rPr>
              <a:t>Did it obey format and constraints?</a:t>
            </a:r>
          </a:p>
        </p:txBody>
      </p:sp>
      <p:sp>
        <p:nvSpPr>
          <p:cNvPr id="54" name="Oval 53"/>
          <p:cNvSpPr/>
          <p:nvPr/>
        </p:nvSpPr>
        <p:spPr>
          <a:xfrm>
            <a:off x="1252728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52728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F07A3A"/>
                </a:solidFill>
                <a:latin typeface="Aptos"/>
              </a:rPr>
              <a:t>1</a:t>
            </a:r>
          </a:p>
        </p:txBody>
      </p:sp>
      <p:sp>
        <p:nvSpPr>
          <p:cNvPr id="56" name="Oval 55"/>
          <p:cNvSpPr/>
          <p:nvPr/>
        </p:nvSpPr>
        <p:spPr>
          <a:xfrm>
            <a:off x="1709928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709928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F07A3A"/>
                </a:solidFill>
                <a:latin typeface="Aptos"/>
              </a:rPr>
              <a:t>2</a:t>
            </a:r>
          </a:p>
        </p:txBody>
      </p:sp>
      <p:sp>
        <p:nvSpPr>
          <p:cNvPr id="58" name="Oval 57"/>
          <p:cNvSpPr/>
          <p:nvPr/>
        </p:nvSpPr>
        <p:spPr>
          <a:xfrm>
            <a:off x="2167128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167128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F07A3A"/>
                </a:solidFill>
                <a:latin typeface="Aptos"/>
              </a:rPr>
              <a:t>3</a:t>
            </a:r>
          </a:p>
        </p:txBody>
      </p:sp>
      <p:sp>
        <p:nvSpPr>
          <p:cNvPr id="60" name="Oval 59"/>
          <p:cNvSpPr/>
          <p:nvPr/>
        </p:nvSpPr>
        <p:spPr>
          <a:xfrm>
            <a:off x="2624328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24328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F07A3A"/>
                </a:solidFill>
                <a:latin typeface="Aptos"/>
              </a:rPr>
              <a:t>4</a:t>
            </a:r>
          </a:p>
        </p:txBody>
      </p:sp>
      <p:sp>
        <p:nvSpPr>
          <p:cNvPr id="62" name="Oval 61"/>
          <p:cNvSpPr/>
          <p:nvPr/>
        </p:nvSpPr>
        <p:spPr>
          <a:xfrm>
            <a:off x="3081528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081528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F07A3A"/>
                </a:solidFill>
                <a:latin typeface="Aptos"/>
              </a:rPr>
              <a:t>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80559" y="3749039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681727" y="3986783"/>
            <a:ext cx="329184" cy="329184"/>
          </a:xfrm>
          <a:prstGeom prst="ellipse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138927" y="3968496"/>
            <a:ext cx="25054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3F70"/>
                </a:solidFill>
                <a:latin typeface="Aptos Display"/>
              </a:rPr>
              <a:t>Style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36592" y="4507992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10" b="0" i="0">
                <a:solidFill>
                  <a:srgbClr val="2D3642"/>
                </a:solidFill>
                <a:latin typeface="Aptos"/>
              </a:rPr>
              <a:t>Is tone and clarity appropriate?</a:t>
            </a:r>
          </a:p>
        </p:txBody>
      </p:sp>
      <p:sp>
        <p:nvSpPr>
          <p:cNvPr id="68" name="Oval 67"/>
          <p:cNvSpPr/>
          <p:nvPr/>
        </p:nvSpPr>
        <p:spPr>
          <a:xfrm>
            <a:off x="5074920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73F70"/>
                </a:solidFill>
                <a:latin typeface="Aptos"/>
              </a:rPr>
              <a:t>1</a:t>
            </a:r>
          </a:p>
        </p:txBody>
      </p:sp>
      <p:sp>
        <p:nvSpPr>
          <p:cNvPr id="70" name="Oval 69"/>
          <p:cNvSpPr/>
          <p:nvPr/>
        </p:nvSpPr>
        <p:spPr>
          <a:xfrm>
            <a:off x="5532120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32120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73F70"/>
                </a:solidFill>
                <a:latin typeface="Aptos"/>
              </a:rPr>
              <a:t>2</a:t>
            </a:r>
          </a:p>
        </p:txBody>
      </p:sp>
      <p:sp>
        <p:nvSpPr>
          <p:cNvPr id="72" name="Oval 71"/>
          <p:cNvSpPr/>
          <p:nvPr/>
        </p:nvSpPr>
        <p:spPr>
          <a:xfrm>
            <a:off x="5989320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89320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73F70"/>
                </a:solidFill>
                <a:latin typeface="Aptos"/>
              </a:rPr>
              <a:t>3</a:t>
            </a:r>
          </a:p>
        </p:txBody>
      </p:sp>
      <p:sp>
        <p:nvSpPr>
          <p:cNvPr id="74" name="Oval 73"/>
          <p:cNvSpPr/>
          <p:nvPr/>
        </p:nvSpPr>
        <p:spPr>
          <a:xfrm>
            <a:off x="6446520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46520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73F70"/>
                </a:solidFill>
                <a:latin typeface="Aptos"/>
              </a:rPr>
              <a:t>4</a:t>
            </a:r>
          </a:p>
        </p:txBody>
      </p:sp>
      <p:sp>
        <p:nvSpPr>
          <p:cNvPr id="76" name="Oval 75"/>
          <p:cNvSpPr/>
          <p:nvPr/>
        </p:nvSpPr>
        <p:spPr>
          <a:xfrm>
            <a:off x="6903720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903720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173F70"/>
                </a:solidFill>
                <a:latin typeface="Aptos"/>
              </a:rPr>
              <a:t>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02752" y="3749039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503920" y="3986783"/>
            <a:ext cx="329184" cy="329184"/>
          </a:xfrm>
          <a:prstGeom prst="ellipse">
            <a:avLst/>
          </a:prstGeom>
          <a:solidFill>
            <a:srgbClr val="D94A3A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961120" y="3968496"/>
            <a:ext cx="25054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3F70"/>
                </a:solidFill>
                <a:latin typeface="Aptos Display"/>
              </a:rPr>
              <a:t>Safety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58784" y="4507992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10" b="0" i="0">
                <a:solidFill>
                  <a:srgbClr val="2D3642"/>
                </a:solidFill>
                <a:latin typeface="Aptos"/>
              </a:rPr>
              <a:t>Does it avoid prohibited or risky behaviour?</a:t>
            </a:r>
          </a:p>
        </p:txBody>
      </p:sp>
      <p:sp>
        <p:nvSpPr>
          <p:cNvPr id="82" name="Oval 81"/>
          <p:cNvSpPr/>
          <p:nvPr/>
        </p:nvSpPr>
        <p:spPr>
          <a:xfrm>
            <a:off x="8897112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897112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D94A3A"/>
                </a:solidFill>
                <a:latin typeface="Aptos"/>
              </a:rPr>
              <a:t>1</a:t>
            </a:r>
          </a:p>
        </p:txBody>
      </p:sp>
      <p:sp>
        <p:nvSpPr>
          <p:cNvPr id="84" name="Oval 83"/>
          <p:cNvSpPr/>
          <p:nvPr/>
        </p:nvSpPr>
        <p:spPr>
          <a:xfrm>
            <a:off x="9354312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354312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D94A3A"/>
                </a:solidFill>
                <a:latin typeface="Aptos"/>
              </a:rPr>
              <a:t>2</a:t>
            </a:r>
          </a:p>
        </p:txBody>
      </p:sp>
      <p:sp>
        <p:nvSpPr>
          <p:cNvPr id="86" name="Oval 85"/>
          <p:cNvSpPr/>
          <p:nvPr/>
        </p:nvSpPr>
        <p:spPr>
          <a:xfrm>
            <a:off x="9811512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811512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D94A3A"/>
                </a:solidFill>
                <a:latin typeface="Aptos"/>
              </a:rPr>
              <a:t>3</a:t>
            </a:r>
          </a:p>
        </p:txBody>
      </p:sp>
      <p:sp>
        <p:nvSpPr>
          <p:cNvPr id="88" name="Oval 87"/>
          <p:cNvSpPr/>
          <p:nvPr/>
        </p:nvSpPr>
        <p:spPr>
          <a:xfrm>
            <a:off x="10268712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68712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D94A3A"/>
                </a:solidFill>
                <a:latin typeface="Aptos"/>
              </a:rPr>
              <a:t>4</a:t>
            </a:r>
          </a:p>
        </p:txBody>
      </p:sp>
      <p:sp>
        <p:nvSpPr>
          <p:cNvPr id="90" name="Oval 89"/>
          <p:cNvSpPr/>
          <p:nvPr/>
        </p:nvSpPr>
        <p:spPr>
          <a:xfrm>
            <a:off x="10725912" y="5010912"/>
            <a:ext cx="146304" cy="146304"/>
          </a:xfrm>
          <a:prstGeom prst="ellipse">
            <a:avLst/>
          </a:prstGeom>
          <a:solidFill>
            <a:srgbClr val="F5F8FC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725912" y="5033772"/>
            <a:ext cx="14630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D94A3A"/>
                </a:solidFill>
                <a:latin typeface="Aptos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68880" y="5925312"/>
            <a:ext cx="7269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80" b="0" i="1">
                <a:solidFill>
                  <a:srgbClr val="627895"/>
                </a:solidFill>
                <a:latin typeface="Aptos"/>
              </a:rPr>
              <a:t>Define the rubric before looking at model outputs to reduce evaluation bias.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RAG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RAG evaluation: separate retrieval from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A good answer can hide a weak retriever — and a good retriever can feed a weak generator.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1554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3468F7"/>
                </a:solidFill>
                <a:latin typeface="Aptos"/>
              </a:rPr>
              <a:t>Query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295144"/>
            <a:ext cx="292608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920240"/>
            <a:ext cx="1554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18541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1F8F82"/>
                </a:solidFill>
                <a:latin typeface="Aptos"/>
              </a:rPr>
              <a:t>Retriever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2295144"/>
            <a:ext cx="292608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1920240"/>
            <a:ext cx="1554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218541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173F70"/>
                </a:solidFill>
                <a:latin typeface="Aptos"/>
              </a:rPr>
              <a:t>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95144"/>
            <a:ext cx="292608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23760" y="1920240"/>
            <a:ext cx="1554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218541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6D43D9"/>
                </a:solidFill>
                <a:latin typeface="Aptos"/>
              </a:rPr>
              <a:t>LLM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2295144"/>
            <a:ext cx="292608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72600" y="1920240"/>
            <a:ext cx="1554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218541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F07A3A"/>
                </a:solidFill>
                <a:latin typeface="Aptos"/>
              </a:rPr>
              <a:t>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310128"/>
            <a:ext cx="4983480" cy="205740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61872" y="3584448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8F82"/>
                </a:solidFill>
                <a:latin typeface="Aptos Display"/>
              </a:rPr>
              <a:t>Retrieval metrics</a:t>
            </a:r>
          </a:p>
        </p:txBody>
      </p:sp>
      <p:sp>
        <p:nvSpPr>
          <p:cNvPr id="24" name="Oval 23"/>
          <p:cNvSpPr/>
          <p:nvPr/>
        </p:nvSpPr>
        <p:spPr>
          <a:xfrm>
            <a:off x="1280160" y="4133088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39" y="4069080"/>
            <a:ext cx="40233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Relevant-document recall</a:t>
            </a:r>
          </a:p>
        </p:txBody>
      </p:sp>
      <p:sp>
        <p:nvSpPr>
          <p:cNvPr id="26" name="Oval 25"/>
          <p:cNvSpPr/>
          <p:nvPr/>
        </p:nvSpPr>
        <p:spPr>
          <a:xfrm>
            <a:off x="1280160" y="4535424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63039" y="4471416"/>
            <a:ext cx="40233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Precision / noise in retrieved context</a:t>
            </a:r>
          </a:p>
        </p:txBody>
      </p:sp>
      <p:sp>
        <p:nvSpPr>
          <p:cNvPr id="28" name="Oval 27"/>
          <p:cNvSpPr/>
          <p:nvPr/>
        </p:nvSpPr>
        <p:spPr>
          <a:xfrm>
            <a:off x="1280160" y="4937760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63039" y="4873752"/>
            <a:ext cx="40233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Context relevance and coverage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310128"/>
            <a:ext cx="4983480" cy="2057400"/>
          </a:xfrm>
          <a:prstGeom prst="roundRect">
            <a:avLst/>
          </a:prstGeom>
          <a:solidFill>
            <a:srgbClr val="F2EFFD"/>
          </a:solidFill>
          <a:ln w="12700">
            <a:solidFill>
              <a:srgbClr val="F2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3584448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6D43D9"/>
                </a:solidFill>
                <a:latin typeface="Aptos Display"/>
              </a:rPr>
              <a:t>Generation metrics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4133088"/>
            <a:ext cx="82296" cy="82296"/>
          </a:xfrm>
          <a:prstGeom prst="ellipse">
            <a:avLst/>
          </a:prstGeom>
          <a:solidFill>
            <a:srgbClr val="6D4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0" y="4069080"/>
            <a:ext cx="40233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Faithfulness to retrieved sources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535424"/>
            <a:ext cx="82296" cy="82296"/>
          </a:xfrm>
          <a:prstGeom prst="ellipse">
            <a:avLst/>
          </a:prstGeom>
          <a:solidFill>
            <a:srgbClr val="6D4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4471416"/>
            <a:ext cx="40233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Answer correctness and completeness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0" y="4937760"/>
            <a:ext cx="82296" cy="82296"/>
          </a:xfrm>
          <a:prstGeom prst="ellipse">
            <a:avLst/>
          </a:prstGeom>
          <a:solidFill>
            <a:srgbClr val="6D4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4873752"/>
            <a:ext cx="40233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Citation / source attribution quality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LLM-AS-A-JUDGE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LLM-as-a-judge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Use another model to apply a rubric consistently at scale — but treat it as an evaluator, not as ground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73F70"/>
                </a:solidFill>
                <a:latin typeface="Aptos"/>
              </a:rPr>
              <a:t>Candidate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920240"/>
            <a:ext cx="2057400" cy="109728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468F7"/>
                </a:solidFill>
                <a:latin typeface="Aptos"/>
              </a:rPr>
              <a:t>Judge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23744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27895"/>
                </a:solidFill>
                <a:latin typeface="Aptos"/>
              </a:rPr>
              <a:t>+ rubric +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92024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221992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73F70"/>
                </a:solidFill>
                <a:latin typeface="Aptos"/>
              </a:rPr>
              <a:t>Score + rationale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1920240"/>
            <a:ext cx="1874519" cy="109728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46920" y="222199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1F8F82"/>
                </a:solidFill>
                <a:latin typeface="Aptos"/>
              </a:rPr>
              <a:t>Aggregate
comparison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88920" y="2468880"/>
            <a:ext cx="914400" cy="0"/>
          </a:xfrm>
          <a:prstGeom prst="line">
            <a:avLst/>
          </a:prstGeom>
          <a:ln w="1778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60720" y="2468880"/>
            <a:ext cx="914400" cy="0"/>
          </a:xfrm>
          <a:prstGeom prst="line">
            <a:avLst/>
          </a:prstGeom>
          <a:ln w="1778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32520" y="2468880"/>
            <a:ext cx="914400" cy="0"/>
          </a:xfrm>
          <a:prstGeom prst="line">
            <a:avLst/>
          </a:prstGeom>
          <a:ln w="1778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3520440"/>
            <a:ext cx="5257800" cy="196596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3767328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8F82"/>
                </a:solidFill>
                <a:latin typeface="Aptos Display"/>
              </a:rPr>
              <a:t>Why it helps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4251960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39" y="418795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Scales to large test sets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4645152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39" y="458114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Handles nuanced, open-ended criteria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" y="5038344"/>
            <a:ext cx="82296" cy="82296"/>
          </a:xfrm>
          <a:prstGeom prst="ellipse">
            <a:avLst/>
          </a:prstGeom>
          <a:solidFill>
            <a:srgbClr val="1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39" y="4974336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Can provide structured rationales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520440"/>
            <a:ext cx="5257800" cy="1965960"/>
          </a:xfrm>
          <a:prstGeom prst="roundRect">
            <a:avLst/>
          </a:prstGeom>
          <a:solidFill>
            <a:srgbClr val="FDEFEE"/>
          </a:solidFill>
          <a:ln w="12700">
            <a:solidFill>
              <a:srgbClr val="FD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767328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94A3A"/>
                </a:solidFill>
                <a:latin typeface="Aptos Display"/>
              </a:rPr>
              <a:t>Where it can fail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251960"/>
            <a:ext cx="82296" cy="82296"/>
          </a:xfrm>
          <a:prstGeom prst="ellipse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418795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Position / verbosity / style bias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4645152"/>
            <a:ext cx="82296" cy="82296"/>
          </a:xfrm>
          <a:prstGeom prst="ellipse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0" y="458114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Judge-model blind spots and self-preference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5038344"/>
            <a:ext cx="82296" cy="82296"/>
          </a:xfrm>
          <a:prstGeom prst="ellipse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4974336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2D3642"/>
                </a:solidFill>
                <a:latin typeface="Aptos"/>
              </a:rPr>
              <a:t>Instability across prompts and versions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EVALUATION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Making LLM-as-a-judge more reliable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Judge quality depends heavily on the evaluation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773936"/>
            <a:ext cx="384048" cy="384048"/>
          </a:xfrm>
          <a:prstGeom prst="ellipse">
            <a:avLst/>
          </a:prstGeom>
          <a:solidFill>
            <a:srgbClr val="3468F7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1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773936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 i="0">
                <a:solidFill>
                  <a:srgbClr val="173F70"/>
                </a:solidFill>
                <a:latin typeface="Aptos Display"/>
              </a:rPr>
              <a:t>Use an explicit rubric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Define observable criteria and scoring anchors.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72768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17720" y="1773936"/>
            <a:ext cx="384048" cy="384048"/>
          </a:xfrm>
          <a:prstGeom prst="ellipse">
            <a:avLst/>
          </a:prstGeom>
          <a:solidFill>
            <a:srgbClr val="1F8F82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856231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1773936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 i="0">
                <a:solidFill>
                  <a:srgbClr val="173F70"/>
                </a:solidFill>
                <a:latin typeface="Aptos Display"/>
              </a:rPr>
              <a:t>Blind the model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44144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Remove labels that can bias the judge.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572768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58200" y="1773936"/>
            <a:ext cx="384048" cy="384048"/>
          </a:xfrm>
          <a:prstGeom prst="ellipse">
            <a:avLst/>
          </a:prstGeom>
          <a:solidFill>
            <a:srgbClr val="6D43D9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1856231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773936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 i="0">
                <a:solidFill>
                  <a:srgbClr val="173F70"/>
                </a:solidFill>
                <a:latin typeface="Aptos Display"/>
              </a:rPr>
              <a:t>Prefer pairwise for close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244144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Comparing A vs B is often easier than absolute scoring.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21608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7240" y="3922776"/>
            <a:ext cx="384048" cy="384048"/>
          </a:xfrm>
          <a:prstGeom prst="ellipse">
            <a:avLst/>
          </a:prstGeom>
          <a:solidFill>
            <a:srgbClr val="F07A3A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00507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3922776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 i="0">
                <a:solidFill>
                  <a:srgbClr val="173F70"/>
                </a:solidFill>
                <a:latin typeface="Aptos Display"/>
              </a:rPr>
              <a:t>Calibrate against humans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59028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Measure agreement on a representative sample.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721608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617720" y="3922776"/>
            <a:ext cx="384048" cy="384048"/>
          </a:xfrm>
          <a:prstGeom prst="ellipse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400507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8072" y="3922776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 i="0">
                <a:solidFill>
                  <a:srgbClr val="173F70"/>
                </a:solidFill>
                <a:latin typeface="Aptos Display"/>
              </a:rPr>
              <a:t>Use multiple judges when risk is 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459028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Aggregate or escalate disagreements.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3721608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458200" y="3922776"/>
            <a:ext cx="384048" cy="384048"/>
          </a:xfrm>
          <a:prstGeom prst="ellipse">
            <a:avLst/>
          </a:prstGeom>
          <a:solidFill>
            <a:srgbClr val="D94A3A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8200" y="400507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3922776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 i="0">
                <a:solidFill>
                  <a:srgbClr val="173F70"/>
                </a:solidFill>
                <a:latin typeface="Aptos Display"/>
              </a:rPr>
              <a:t>Version the judge prompt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459028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0" i="0">
                <a:solidFill>
                  <a:srgbClr val="2D3642"/>
                </a:solidFill>
                <a:latin typeface="Aptos"/>
              </a:rPr>
              <a:t>Treat evaluator prompts as tested assets.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HUMAN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Human evaluation still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Automated evaluation gives scale; experts give context, accountability and calibration.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148840" cy="114300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93976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468F7"/>
                </a:solidFill>
                <a:latin typeface="Aptos"/>
              </a:rPr>
              <a:t>Automated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27895"/>
                </a:solidFill>
                <a:latin typeface="Aptos"/>
              </a:rPr>
              <a:t>100% of test set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2395728"/>
            <a:ext cx="457200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828800"/>
            <a:ext cx="1984248" cy="1143000"/>
          </a:xfrm>
          <a:prstGeom prst="roundRect">
            <a:avLst/>
          </a:prstGeom>
          <a:solidFill>
            <a:srgbClr val="F2EFFD"/>
          </a:solidFill>
          <a:ln w="12700">
            <a:solidFill>
              <a:srgbClr val="F2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2093976"/>
            <a:ext cx="18013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D43D9"/>
                </a:solidFill>
                <a:latin typeface="Aptos"/>
              </a:rPr>
              <a:t>LLM 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14600"/>
            <a:ext cx="1801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27895"/>
                </a:solidFill>
                <a:latin typeface="Aptos"/>
              </a:rPr>
              <a:t>Large sample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50408" y="2395728"/>
            <a:ext cx="621792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1828800"/>
            <a:ext cx="1819656" cy="114300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093976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F8F82"/>
                </a:solidFill>
                <a:latin typeface="Aptos"/>
              </a:rPr>
              <a:t>Human reviewers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14600"/>
            <a:ext cx="16367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27895"/>
                </a:solidFill>
                <a:latin typeface="Aptos"/>
              </a:rPr>
              <a:t>Targeted sample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29016" y="2395728"/>
            <a:ext cx="786384" cy="0"/>
          </a:xfrm>
          <a:prstGeom prst="line">
            <a:avLst/>
          </a:prstGeom>
          <a:ln w="1651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1828800"/>
            <a:ext cx="1655064" cy="1143000"/>
          </a:xfrm>
          <a:prstGeom prst="roundRect">
            <a:avLst/>
          </a:prstGeom>
          <a:solidFill>
            <a:srgbClr val="FDF3EC"/>
          </a:solidFill>
          <a:ln w="12700">
            <a:solidFill>
              <a:srgbClr val="FD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2093976"/>
            <a:ext cx="1472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07A3A"/>
                </a:solidFill>
                <a:latin typeface="Aptos"/>
              </a:rPr>
              <a:t>Domain / risk experts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514600"/>
            <a:ext cx="1472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627895"/>
                </a:solidFill>
                <a:latin typeface="Aptos"/>
              </a:rPr>
              <a:t>Escalations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3749039"/>
            <a:ext cx="9372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19072" y="4023360"/>
            <a:ext cx="8732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73F70"/>
                </a:solidFill>
                <a:latin typeface="Aptos Display"/>
              </a:rPr>
              <a:t>Use people where judgment, risk or ambiguity is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1F8F82"/>
                </a:solidFill>
                <a:latin typeface="Aptos"/>
              </a:rPr>
              <a:t>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5546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 i="0">
                <a:solidFill>
                  <a:srgbClr val="2D3642"/>
                </a:solidFill>
                <a:latin typeface="Aptos"/>
              </a:rPr>
              <a:t>Do automated scores match expert judgment?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57200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1F8F82"/>
                </a:solidFill>
                <a:latin typeface="Aptos"/>
              </a:rPr>
              <a:t>Disagreement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85546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 i="0">
                <a:solidFill>
                  <a:srgbClr val="2D3642"/>
                </a:solidFill>
                <a:latin typeface="Aptos"/>
              </a:rPr>
              <a:t>Which cases trigger escalation?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57200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 i="0">
                <a:solidFill>
                  <a:srgbClr val="1F8F82"/>
                </a:solidFill>
                <a:latin typeface="Aptos"/>
              </a:rPr>
              <a:t>Business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85546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 i="0">
                <a:solidFill>
                  <a:srgbClr val="2D3642"/>
                </a:solidFill>
                <a:latin typeface="Aptos"/>
              </a:rPr>
              <a:t>Would a real user accept the result?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EVALUATION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End-to-end evaluation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Evaluation should be repeatable before deployment and continuous after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1691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" y="2212848"/>
            <a:ext cx="384048" cy="384048"/>
          </a:xfrm>
          <a:prstGeom prst="ellipse">
            <a:avLst/>
          </a:prstGeom>
          <a:solidFill>
            <a:srgbClr val="3468F7"/>
          </a:solidFill>
          <a:ln w="12700">
            <a:solidFill>
              <a:srgbClr val="346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29514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1" i="0">
                <a:solidFill>
                  <a:srgbClr val="173F70"/>
                </a:solidFill>
                <a:latin typeface="Aptos Display"/>
              </a:rPr>
              <a:t>Test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502152"/>
            <a:ext cx="1362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90" b="0" i="0">
                <a:solidFill>
                  <a:srgbClr val="2D3642"/>
                </a:solidFill>
                <a:latin typeface="Aptos"/>
              </a:rPr>
              <a:t>Frozen representative cases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3182112"/>
            <a:ext cx="210312" cy="0"/>
          </a:xfrm>
          <a:prstGeom prst="line">
            <a:avLst/>
          </a:prstGeom>
          <a:ln w="1524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50008" y="1965960"/>
            <a:ext cx="1691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90088" y="2212848"/>
            <a:ext cx="384048" cy="384048"/>
          </a:xfrm>
          <a:prstGeom prst="ellipse">
            <a:avLst/>
          </a:prstGeom>
          <a:solidFill>
            <a:srgbClr val="1F8F82"/>
          </a:solidFill>
          <a:ln w="12700">
            <a:solidFill>
              <a:srgbClr val="1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90088" y="229514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2834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1" i="0">
                <a:solidFill>
                  <a:srgbClr val="173F70"/>
                </a:solidFill>
                <a:latin typeface="Aptos Display"/>
              </a:rPr>
              <a:t>Run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502152"/>
            <a:ext cx="1362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90" b="0" i="0">
                <a:solidFill>
                  <a:srgbClr val="2D3642"/>
                </a:solidFill>
                <a:latin typeface="Aptos"/>
              </a:rPr>
              <a:t>Same prompts, tools and settings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41648" y="3182112"/>
            <a:ext cx="210312" cy="0"/>
          </a:xfrm>
          <a:prstGeom prst="line">
            <a:avLst/>
          </a:prstGeom>
          <a:ln w="1524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88536" y="1965960"/>
            <a:ext cx="1691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28616" y="2212848"/>
            <a:ext cx="384048" cy="384048"/>
          </a:xfrm>
          <a:prstGeom prst="ellipse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28616" y="229514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2834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1" i="0">
                <a:solidFill>
                  <a:srgbClr val="173F70"/>
                </a:solidFill>
                <a:latin typeface="Aptos Display"/>
              </a:rPr>
              <a:t>Score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3502152"/>
            <a:ext cx="1362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90" b="0" i="0">
                <a:solidFill>
                  <a:srgbClr val="2D3642"/>
                </a:solidFill>
                <a:latin typeface="Aptos"/>
              </a:rPr>
              <a:t>Task metrics + rule checks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80176" y="3182112"/>
            <a:ext cx="210312" cy="0"/>
          </a:xfrm>
          <a:prstGeom prst="line">
            <a:avLst/>
          </a:prstGeom>
          <a:ln w="1524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27064" y="1965960"/>
            <a:ext cx="1691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867144" y="2212848"/>
            <a:ext cx="384048" cy="384048"/>
          </a:xfrm>
          <a:prstGeom prst="ellipse">
            <a:avLst/>
          </a:prstGeom>
          <a:solidFill>
            <a:srgbClr val="6D43D9"/>
          </a:solidFill>
          <a:ln w="12700">
            <a:solidFill>
              <a:srgbClr val="6D4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67144" y="229514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2834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1" i="0">
                <a:solidFill>
                  <a:srgbClr val="173F70"/>
                </a:solidFill>
                <a:latin typeface="Aptos Display"/>
              </a:rPr>
              <a:t>LLM judge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502152"/>
            <a:ext cx="1362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90" b="0" i="0">
                <a:solidFill>
                  <a:srgbClr val="2D3642"/>
                </a:solidFill>
                <a:latin typeface="Aptos"/>
              </a:rPr>
              <a:t>Rubric-based comparison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18704" y="3182112"/>
            <a:ext cx="210312" cy="0"/>
          </a:xfrm>
          <a:prstGeom prst="line">
            <a:avLst/>
          </a:prstGeom>
          <a:ln w="1524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65592" y="1965960"/>
            <a:ext cx="1691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05672" y="2212848"/>
            <a:ext cx="384048" cy="384048"/>
          </a:xfrm>
          <a:prstGeom prst="ellipse">
            <a:avLst/>
          </a:prstGeom>
          <a:solidFill>
            <a:srgbClr val="F07A3A"/>
          </a:solidFill>
          <a:ln w="127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05672" y="229514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2834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1" i="0">
                <a:solidFill>
                  <a:srgbClr val="173F70"/>
                </a:solidFill>
                <a:latin typeface="Aptos Display"/>
              </a:rPr>
              <a:t>Human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3502152"/>
            <a:ext cx="1362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90" b="0" i="0">
                <a:solidFill>
                  <a:srgbClr val="2D3642"/>
                </a:solidFill>
                <a:latin typeface="Aptos"/>
              </a:rPr>
              <a:t>Calibrate + inspect failures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57232" y="3182112"/>
            <a:ext cx="210312" cy="0"/>
          </a:xfrm>
          <a:prstGeom prst="line">
            <a:avLst/>
          </a:prstGeom>
          <a:ln w="15240">
            <a:solidFill>
              <a:srgbClr val="6278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04120" y="1965960"/>
            <a:ext cx="1691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744200" y="2212848"/>
            <a:ext cx="384048" cy="384048"/>
          </a:xfrm>
          <a:prstGeom prst="ellipse">
            <a:avLst/>
          </a:prstGeom>
          <a:solidFill>
            <a:srgbClr val="D94A3A"/>
          </a:solidFill>
          <a:ln w="12700">
            <a:solidFill>
              <a:srgbClr val="D9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744200" y="229514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283464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1" i="0">
                <a:solidFill>
                  <a:srgbClr val="173F70"/>
                </a:solidFill>
                <a:latin typeface="Aptos Display"/>
              </a:rPr>
              <a:t>Production 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68712" y="3502152"/>
            <a:ext cx="1362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90" b="0" i="0">
                <a:solidFill>
                  <a:srgbClr val="2D3642"/>
                </a:solidFill>
                <a:latin typeface="Aptos"/>
              </a:rPr>
              <a:t>Drift, quality, cost, incidents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960120" y="4736592"/>
            <a:ext cx="9966960" cy="0"/>
          </a:xfrm>
          <a:prstGeom prst="line">
            <a:avLst/>
          </a:prstGeom>
          <a:ln w="16510">
            <a:solidFill>
              <a:srgbClr val="1F8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224528" y="4828032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F8F82"/>
                </a:solidFill>
                <a:latin typeface="Aptos"/>
              </a:rPr>
              <a:t>Production evidence feeds the next evaluation cycle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F8F82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7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F70"/>
                </a:solidFill>
                <a:latin typeface="Aptos Display"/>
              </a:rPr>
              <a:t>Model decision matrix: an illustrative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895"/>
                </a:solidFill>
                <a:latin typeface="Aptos"/>
              </a:rPr>
              <a:t>Weight criteria for the specific use case, then document the reasoning.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132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627895"/>
                </a:solidFill>
                <a:latin typeface="Aptos"/>
              </a:rPr>
              <a:t>AI Model Selection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27895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011680" cy="530352"/>
          </a:xfrm>
          <a:prstGeom prst="roundRect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Criterion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463040"/>
            <a:ext cx="777240" cy="530352"/>
          </a:xfrm>
          <a:prstGeom prst="roundRect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1627632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63040"/>
            <a:ext cx="2057400" cy="530352"/>
          </a:xfrm>
          <a:prstGeom prst="roundRect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627632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A · Proprietary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1463040"/>
            <a:ext cx="2423160" cy="530352"/>
          </a:xfrm>
          <a:prstGeom prst="roundRect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1627632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B · Open-weight managed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2103120" cy="530352"/>
          </a:xfrm>
          <a:prstGeom prst="roundRect">
            <a:avLst/>
          </a:prstGeom>
          <a:solidFill>
            <a:srgbClr val="173F70"/>
          </a:solidFill>
          <a:ln w="1270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62763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C · Self-hosted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057400"/>
            <a:ext cx="20116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221992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2D3642"/>
                </a:solidFill>
                <a:latin typeface="Aptos"/>
              </a:rPr>
              <a:t>Quality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2057400"/>
            <a:ext cx="7772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14600" y="2221992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2D3642"/>
                </a:solidFill>
                <a:latin typeface="Aptos"/>
              </a:rPr>
              <a:t>30%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2057400"/>
            <a:ext cx="2057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2221992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3468F7"/>
                </a:solidFill>
                <a:latin typeface="Aptos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2057400"/>
            <a:ext cx="24231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49240" y="2221992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1F8F82"/>
                </a:solidFill>
                <a:latin typeface="Aptos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057400"/>
            <a:ext cx="21031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221992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F07A3A"/>
                </a:solidFill>
                <a:latin typeface="Aptos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587752"/>
            <a:ext cx="201168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275234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2D3642"/>
                </a:solidFill>
                <a:latin typeface="Aptos"/>
              </a:rPr>
              <a:t>Latency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2587752"/>
            <a:ext cx="77724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14600" y="2752344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2D3642"/>
                </a:solidFill>
                <a:latin typeface="Aptos"/>
              </a:rPr>
              <a:t>20%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2587752"/>
            <a:ext cx="205740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91840" y="2752344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3468F7"/>
                </a:solidFill>
                <a:latin typeface="Aptos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2587752"/>
            <a:ext cx="242316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2752344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1F8F82"/>
                </a:solidFill>
                <a:latin typeface="Aptos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587752"/>
            <a:ext cx="210312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0" y="275234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F07A3A"/>
                </a:solidFill>
                <a:latin typeface="Aptos"/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118104"/>
            <a:ext cx="20116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328269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2D3642"/>
                </a:solidFill>
                <a:latin typeface="Aptos"/>
              </a:rPr>
              <a:t>Cost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14600" y="3118104"/>
            <a:ext cx="7772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14600" y="3282696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2D3642"/>
                </a:solidFill>
                <a:latin typeface="Aptos"/>
              </a:rPr>
              <a:t>15%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3118104"/>
            <a:ext cx="2057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3282696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3468F7"/>
                </a:solidFill>
                <a:latin typeface="Aptos"/>
              </a:rP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49240" y="3118104"/>
            <a:ext cx="24231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49240" y="3282696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1F8F82"/>
                </a:solidFill>
                <a:latin typeface="Aptos"/>
              </a:rPr>
              <a:t>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3118104"/>
            <a:ext cx="21031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0" y="32826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F07A3A"/>
                </a:solidFill>
                <a:latin typeface="Aptos"/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648456"/>
            <a:ext cx="201168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381304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2D3642"/>
                </a:solidFill>
                <a:latin typeface="Aptos"/>
              </a:rPr>
              <a:t>Data residency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14600" y="3648456"/>
            <a:ext cx="77724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14600" y="3813048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2D3642"/>
                </a:solidFill>
                <a:latin typeface="Aptos"/>
              </a:rPr>
              <a:t>20%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1840" y="3648456"/>
            <a:ext cx="205740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91840" y="3813048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3468F7"/>
                </a:solidFill>
                <a:latin typeface="Aptos"/>
              </a:rPr>
              <a:t>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49240" y="3648456"/>
            <a:ext cx="242316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49240" y="3813048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1F8F82"/>
                </a:solidFill>
                <a:latin typeface="Aptos"/>
              </a:rPr>
              <a:t>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0" y="3648456"/>
            <a:ext cx="210312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72400" y="38130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F07A3A"/>
                </a:solidFill>
                <a:latin typeface="Aptos"/>
              </a:rP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4178808"/>
            <a:ext cx="20116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434340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 i="0">
                <a:solidFill>
                  <a:srgbClr val="2D3642"/>
                </a:solidFill>
                <a:latin typeface="Aptos"/>
              </a:rPr>
              <a:t>Licensing / control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514600" y="4178808"/>
            <a:ext cx="7772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514600" y="4343400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2D3642"/>
                </a:solidFill>
                <a:latin typeface="Aptos"/>
              </a:rPr>
              <a:t>15%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91840" y="4178808"/>
            <a:ext cx="2057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91840" y="4343400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3468F7"/>
                </a:solidFill>
                <a:latin typeface="Aptos"/>
              </a:rPr>
              <a:t>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49240" y="4178808"/>
            <a:ext cx="24231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49240" y="434340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1F8F82"/>
                </a:solidFill>
                <a:latin typeface="Aptos"/>
              </a:rPr>
              <a:t>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72400" y="4178808"/>
            <a:ext cx="21031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72400" y="4343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0" i="0">
                <a:solidFill>
                  <a:srgbClr val="F07A3A"/>
                </a:solidFill>
                <a:latin typeface="Aptos"/>
              </a:rPr>
              <a:t>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4709160"/>
            <a:ext cx="2011680" cy="530352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4873752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1" i="0">
                <a:solidFill>
                  <a:srgbClr val="173F70"/>
                </a:solidFill>
                <a:latin typeface="Aptos"/>
              </a:rPr>
              <a:t>Weighted total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14600" y="4709160"/>
            <a:ext cx="777240" cy="530352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514600" y="4873752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3291840" y="4709160"/>
            <a:ext cx="2057400" cy="530352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291840" y="4873752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1" i="0">
                <a:solidFill>
                  <a:srgbClr val="173F70"/>
                </a:solidFill>
                <a:latin typeface="Aptos"/>
              </a:rPr>
              <a:t>3.65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349240" y="4709160"/>
            <a:ext cx="2423160" cy="530352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49240" y="4873752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1" i="0">
                <a:solidFill>
                  <a:srgbClr val="173F70"/>
                </a:solidFill>
                <a:latin typeface="Aptos"/>
              </a:rPr>
              <a:t>4.00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72400" y="4709160"/>
            <a:ext cx="2103120" cy="530352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EC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772400" y="4873752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1" i="0">
                <a:solidFill>
                  <a:srgbClr val="173F70"/>
                </a:solidFill>
                <a:latin typeface="Aptos"/>
              </a:rPr>
              <a:t>4.20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0080" y="5257800"/>
            <a:ext cx="10972800" cy="768096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EC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68680" y="542239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 i="0">
                <a:solidFill>
                  <a:srgbClr val="1F8F82"/>
                </a:solidFill>
                <a:latin typeface="Aptos"/>
              </a:rPr>
              <a:t>Illustrative scores only. Hard constraints should be applied before weighted scoring — and the matrix should be rerun when models, prices or requirements change.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54680" y="6181344"/>
            <a:ext cx="5897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73F70"/>
                </a:solidFill>
                <a:latin typeface="Aptos"/>
              </a:rPr>
              <a:t>Select on evidence. Evaluate on your data. Re-evaluate continuously.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1760</Words>
  <Application>Microsoft Office PowerPoint</Application>
  <PresentationFormat>Widescreen</PresentationFormat>
  <Paragraphs>435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Architecture and Solution Architecture</dc:title>
  <dc:subject>Course Overview</dc:subject>
  <dc:creator>OpenAI</dc:creator>
  <cp:lastModifiedBy>Antonio Piemontese</cp:lastModifiedBy>
  <cp:revision>1</cp:revision>
  <dcterms:created xsi:type="dcterms:W3CDTF">2026-09-27T18:56:13Z</dcterms:created>
  <dcterms:modified xsi:type="dcterms:W3CDTF">2026-09-27T22:13:48Z</dcterms:modified>
</cp:coreProperties>
</file>