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AND GENERATIVE AI FUNDAMENTALS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45720"/>
            <a:ext cx="3429000" cy="3429000"/>
          </a:xfrm>
          <a:prstGeom prst="ellipse">
            <a:avLst/>
          </a:prstGeom>
          <a:solidFill>
            <a:srgbClr val="143955"/>
          </a:solidFill>
          <a:ln w="12700">
            <a:solidFill>
              <a:srgbClr val="1439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0" y="182880"/>
            <a:ext cx="2377440" cy="2377440"/>
          </a:xfrm>
          <a:prstGeom prst="ellipse">
            <a:avLst/>
          </a:prstGeom>
          <a:solidFill>
            <a:srgbClr val="00A6A6">
              <a:alpha val="85000"/>
            </a:srgbClr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920240"/>
            <a:ext cx="1188720" cy="1188720"/>
          </a:xfrm>
          <a:prstGeom prst="ellipse">
            <a:avLst/>
          </a:prstGeom>
          <a:solidFill>
            <a:srgbClr val="3AC6E8">
              <a:alpha val="80000"/>
            </a:srgbClr>
          </a:solidFill>
          <a:ln w="12700">
            <a:solidFill>
              <a:srgbClr val="3AC6E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14300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and Generative AI</a:t>
            </a:r>
            <a:endParaRPr lang="en-US" sz="3300" dirty="0"/>
          </a:p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Fundamentals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92608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C8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AI, Machine Learning and Deep Learning to Generative AI — with enterprise banking use cases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8096" y="4023360"/>
            <a:ext cx="4480560" cy="347472"/>
          </a:xfrm>
          <a:prstGeom prst="roundRect">
            <a:avLst>
              <a:gd name="adj" fmla="val 21053"/>
            </a:avLst>
          </a:prstGeom>
          <a:solidFill>
            <a:srgbClr val="123A4F"/>
          </a:solidFill>
          <a:ln w="12700">
            <a:solidFill>
              <a:srgbClr val="123A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4041648"/>
            <a:ext cx="4334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C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BUSINESS ANALYSTS &amp; TECHNICAL PROFESSIONALS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47091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Bank Training Program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52303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Concepts • Architecture • Use Cases • Risk Awareness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roadmap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common language for business and technology teams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764792"/>
            <a:ext cx="512064" cy="51206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764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2432304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AI, ML &amp; DL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3090672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each term means and how they relate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50392" y="5074920"/>
            <a:ext cx="201168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572768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85032" y="1764792"/>
            <a:ext cx="512064" cy="51206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85032" y="1764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2432304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685032" y="3090672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models, LLMs and the capability shift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85032" y="5074920"/>
            <a:ext cx="2011680" cy="0"/>
          </a:xfrm>
          <a:prstGeom prst="line">
            <a:avLst/>
          </a:prstGeom>
          <a:noFill/>
          <a:ln w="38100">
            <a:solidFill>
              <a:srgbClr val="2F6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572768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29A36A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9672" y="1764792"/>
            <a:ext cx="512064" cy="512064"/>
          </a:xfrm>
          <a:prstGeom prst="ellipse">
            <a:avLst/>
          </a:prstGeom>
          <a:solidFill>
            <a:srgbClr val="29A36A"/>
          </a:solidFill>
          <a:ln w="12700">
            <a:solidFill>
              <a:srgbClr val="29A3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9672" y="1764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2432304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use cases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519672" y="3090672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AI and GenAI create value across the bank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19672" y="5074920"/>
            <a:ext cx="2011680" cy="0"/>
          </a:xfrm>
          <a:prstGeom prst="line">
            <a:avLst/>
          </a:prstGeom>
          <a:noFill/>
          <a:ln w="38100">
            <a:solidFill>
              <a:srgbClr val="29A3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1572768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F47C48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54312" y="1764792"/>
            <a:ext cx="512064" cy="512064"/>
          </a:xfrm>
          <a:prstGeom prst="ellipse">
            <a:avLst/>
          </a:prstGeom>
          <a:solidFill>
            <a:srgbClr val="F47C48"/>
          </a:solidFill>
          <a:ln w="12700">
            <a:solidFill>
              <a:srgbClr val="F47C4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54312" y="1764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354312" y="2432304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idea to production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354312" y="3090672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the right approach, controls and success measures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354312" y="5074920"/>
            <a:ext cx="2011680" cy="0"/>
          </a:xfrm>
          <a:prstGeom prst="line">
            <a:avLst/>
          </a:prstGeom>
          <a:noFill/>
          <a:ln w="38100">
            <a:solidFill>
              <a:srgbClr val="F47C4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AI matters in banking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not one use case: it is a capability layer across decisions, interactions and operations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828800"/>
            <a:ext cx="566928" cy="56692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739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interactions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945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responsive service, personalization and assisted selling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4343400" y="283464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16552" y="2852928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24/7 + contextual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572768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4550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64808" y="1828800"/>
            <a:ext cx="566928" cy="566928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17739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&amp; controls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21945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detection, anomaly identification and decision support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9921240" y="283464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94392" y="2852928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45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Earlier signals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3730752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29A36A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86968" y="3986784"/>
            <a:ext cx="566928" cy="566928"/>
          </a:xfrm>
          <a:prstGeom prst="ellipse">
            <a:avLst/>
          </a:prstGeom>
          <a:solidFill>
            <a:srgbClr val="29A36A"/>
          </a:solidFill>
          <a:ln w="12700">
            <a:solidFill>
              <a:srgbClr val="29A3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" y="3986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35254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processing, workflow acceleration and exception handling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4343400" y="4992624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16552" y="501091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9A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friction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3730752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64808" y="3986784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64808" y="3986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work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35254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Search, summarization, drafting and analysis across internal information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9921240" y="4992624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EAF7F7"/>
          </a:solidFill>
          <a:ln w="12700">
            <a:solidFill>
              <a:srgbClr val="EAF7F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94392" y="501091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insight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64592"/>
            <a:ext cx="2240280" cy="2240280"/>
          </a:xfrm>
          <a:prstGeom prst="ellipse">
            <a:avLst/>
          </a:prstGeom>
          <a:solidFill>
            <a:srgbClr val="143955">
              <a:alpha val="90000"/>
            </a:srgbClr>
          </a:solidFill>
          <a:ln w="12700">
            <a:solidFill>
              <a:srgbClr val="14395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0" y="658368"/>
            <a:ext cx="1417320" cy="1417320"/>
          </a:xfrm>
          <a:prstGeom prst="ellipse">
            <a:avLst/>
          </a:prstGeom>
          <a:solidFill>
            <a:srgbClr val="00A6A6">
              <a:alpha val="65000"/>
            </a:srgbClr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AI, Machine Learning and Deep Learning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C7D5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the hierarchy before discussing Generative AI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Artificial Intelligence: the umbrella concept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the broad goal of building systems that perform tasks associated with human intelligence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709160" y="1828800"/>
            <a:ext cx="2743200" cy="274320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09160" y="235915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ARTIFICIAL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444752"/>
            <a:ext cx="27889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78992" y="16093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Perceive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97510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Vision, speech, sensors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914400" y="4315968"/>
            <a:ext cx="27889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29A36A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78992" y="44805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484632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Scores, forecasts, probabilities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8458200" y="1444752"/>
            <a:ext cx="27889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F47C48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22792" y="16093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 / decide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622792" y="197510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Rules, optimization, planning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8458200" y="4315968"/>
            <a:ext cx="27889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22792" y="44805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622792" y="484632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Text, code, images, structured output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3657600" y="2084832"/>
            <a:ext cx="1024128" cy="45720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657600" y="4663440"/>
            <a:ext cx="1051560" cy="-777240"/>
          </a:xfrm>
          <a:prstGeom prst="line">
            <a:avLst/>
          </a:prstGeom>
          <a:noFill/>
          <a:ln w="25400">
            <a:solidFill>
              <a:srgbClr val="29A36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458200" y="2103120"/>
            <a:ext cx="-1005840" cy="457200"/>
          </a:xfrm>
          <a:prstGeom prst="line">
            <a:avLst/>
          </a:prstGeom>
          <a:noFill/>
          <a:ln w="25400">
            <a:solidFill>
              <a:srgbClr val="F47C4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458200" y="4663440"/>
            <a:ext cx="-1005840" cy="-77724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Automation, Machine Learning and Generative AI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different ways to make software “smart”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F47C48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73736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755648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7C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26771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Rule-based automation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788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7C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/ THEN logic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33009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3575304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Humans define the rules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41605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suited for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4434840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Stable, explicit processes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50017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example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59536" y="528523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routing rules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4471416" y="1481328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173736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45736" y="1755648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672584" y="226771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672584" y="2788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from patterns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672584" y="33009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72584" y="3575304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teaches the model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672584" y="41605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suited for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672584" y="4434840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Classification, scoring, forecasting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672584" y="50017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example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672584" y="528523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risk score</a:t>
            </a:r>
            <a:endParaRPr lang="en-US" sz="1230" dirty="0"/>
          </a:p>
        </p:txBody>
      </p:sp>
      <p:sp>
        <p:nvSpPr>
          <p:cNvPr id="26" name="Shape 24"/>
          <p:cNvSpPr/>
          <p:nvPr/>
        </p:nvSpPr>
        <p:spPr>
          <a:xfrm>
            <a:off x="8284464" y="1481328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485632" y="173736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EAF7F7"/>
          </a:solidFill>
          <a:ln w="12700">
            <a:solidFill>
              <a:srgbClr val="EAF7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58784" y="1755648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485632" y="226771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8485632" y="2788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/ transform content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8485632" y="33009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485632" y="3575304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pretrained models + context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485632" y="41605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suited for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485632" y="4434840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Language, documents, code, multimodal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485632" y="50017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example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485632" y="528523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a client call summary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Learning: learning patterns from data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coding every decision rule, we train a model from examples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EAF0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2249424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data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615184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Transactions, customers, labels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54680" y="210312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EAF8FC"/>
          </a:solidFill>
          <a:ln w="12700">
            <a:solidFill>
              <a:srgbClr val="3AC6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00984" y="2249424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300984" y="2615184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Income, balance, behavior...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577840" y="210312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EAF7F7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24144" y="2249424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algorithm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724144" y="2615184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useful statistical patterns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01000" y="210312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EAF7F0"/>
          </a:solidFill>
          <a:ln w="12700">
            <a:solidFill>
              <a:srgbClr val="29A3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47304" y="2249424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147304" y="2615184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reusable predictive function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97480" y="2670048"/>
            <a:ext cx="429768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20640" y="2670048"/>
            <a:ext cx="429768" cy="0"/>
          </a:xfrm>
          <a:prstGeom prst="line">
            <a:avLst/>
          </a:prstGeom>
          <a:noFill/>
          <a:ln w="25400">
            <a:solidFill>
              <a:srgbClr val="3AC6E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43800" y="2670048"/>
            <a:ext cx="429768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01000" y="397764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29A36A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18388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case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450799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customer / transaction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79408" y="3273552"/>
            <a:ext cx="0" cy="676656"/>
          </a:xfrm>
          <a:prstGeom prst="line">
            <a:avLst/>
          </a:prstGeom>
          <a:noFill/>
          <a:ln w="25400">
            <a:solidFill>
              <a:srgbClr val="29A36A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94392" y="4663440"/>
            <a:ext cx="64008" cy="0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85832" y="397764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FFF7E3"/>
          </a:solidFill>
          <a:ln w="12700">
            <a:solidFill>
              <a:srgbClr val="F2B134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195560" y="42245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0195560" y="45720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/ class / value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3977640" y="5349240"/>
            <a:ext cx="4023360" cy="347472"/>
          </a:xfrm>
          <a:prstGeom prst="roundRect">
            <a:avLst>
              <a:gd name="adj" fmla="val 21053"/>
            </a:avLst>
          </a:prstGeom>
          <a:solidFill>
            <a:srgbClr val="EAF7F7"/>
          </a:solidFill>
          <a:ln w="12700">
            <a:solidFill>
              <a:srgbClr val="EAF7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050792" y="5367528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= PATTERN + PARAMETERS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Machine Learning task families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target business question determines the learning problem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2523744" cy="379476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810512"/>
            <a:ext cx="512064" cy="51206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810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248716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29809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class?</a:t>
            </a:r>
            <a:endParaRPr lang="en-US" sz="123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35112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example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37947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/ not fraud</a:t>
            </a:r>
            <a:endParaRPr lang="en-US" sz="1220" dirty="0"/>
          </a:p>
        </p:txBody>
      </p:sp>
      <p:sp>
        <p:nvSpPr>
          <p:cNvPr id="11" name="Text 9"/>
          <p:cNvSpPr txBox="1"/>
          <p:nvPr/>
        </p:nvSpPr>
        <p:spPr>
          <a:xfrm>
            <a:off x="850392" y="44165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50392" y="470001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or multi-class output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3520440" y="1600200"/>
            <a:ext cx="2523744" cy="379476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29A36A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85032" y="1810512"/>
            <a:ext cx="512064" cy="512064"/>
          </a:xfrm>
          <a:prstGeom prst="ellipse">
            <a:avLst/>
          </a:prstGeom>
          <a:solidFill>
            <a:srgbClr val="29A36A"/>
          </a:solidFill>
          <a:ln w="12700">
            <a:solidFill>
              <a:srgbClr val="29A3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85032" y="1810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85032" y="248716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</a:t>
            </a:r>
            <a:endParaRPr lang="en-US" sz="1750" dirty="0"/>
          </a:p>
        </p:txBody>
      </p:sp>
      <p:sp>
        <p:nvSpPr>
          <p:cNvPr id="17" name="Text 15"/>
          <p:cNvSpPr txBox="1"/>
          <p:nvPr/>
        </p:nvSpPr>
        <p:spPr>
          <a:xfrm>
            <a:off x="3685032" y="29809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29A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much?</a:t>
            </a:r>
            <a:endParaRPr lang="en-US" sz="1230" dirty="0"/>
          </a:p>
        </p:txBody>
      </p:sp>
      <p:sp>
        <p:nvSpPr>
          <p:cNvPr id="18" name="Text 16"/>
          <p:cNvSpPr txBox="1"/>
          <p:nvPr/>
        </p:nvSpPr>
        <p:spPr>
          <a:xfrm>
            <a:off x="3685032" y="35112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example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685032" y="37947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loss amount</a:t>
            </a:r>
            <a:endParaRPr lang="en-US" sz="1220" dirty="0"/>
          </a:p>
        </p:txBody>
      </p:sp>
      <p:sp>
        <p:nvSpPr>
          <p:cNvPr id="20" name="Text 18"/>
          <p:cNvSpPr txBox="1"/>
          <p:nvPr/>
        </p:nvSpPr>
        <p:spPr>
          <a:xfrm>
            <a:off x="3685032" y="44165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685032" y="470001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numeric output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355080" y="1600200"/>
            <a:ext cx="2523744" cy="379476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19672" y="1810512"/>
            <a:ext cx="512064" cy="51206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19672" y="1810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19672" y="248716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Clustering</a:t>
            </a:r>
            <a:endParaRPr lang="en-US" sz="1750" dirty="0"/>
          </a:p>
        </p:txBody>
      </p:sp>
      <p:sp>
        <p:nvSpPr>
          <p:cNvPr id="26" name="Text 24"/>
          <p:cNvSpPr txBox="1"/>
          <p:nvPr/>
        </p:nvSpPr>
        <p:spPr>
          <a:xfrm>
            <a:off x="6519672" y="29809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natural group?</a:t>
            </a:r>
            <a:endParaRPr lang="en-US" sz="1230" dirty="0"/>
          </a:p>
        </p:txBody>
      </p:sp>
      <p:sp>
        <p:nvSpPr>
          <p:cNvPr id="27" name="Text 25"/>
          <p:cNvSpPr txBox="1"/>
          <p:nvPr/>
        </p:nvSpPr>
        <p:spPr>
          <a:xfrm>
            <a:off x="6519672" y="35112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example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519672" y="37947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segments</a:t>
            </a:r>
            <a:endParaRPr lang="en-US" sz="1220" dirty="0"/>
          </a:p>
        </p:txBody>
      </p:sp>
      <p:sp>
        <p:nvSpPr>
          <p:cNvPr id="29" name="Text 27"/>
          <p:cNvSpPr txBox="1"/>
          <p:nvPr/>
        </p:nvSpPr>
        <p:spPr>
          <a:xfrm>
            <a:off x="6519672" y="44165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519672" y="470001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predefined label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9189720" y="1600200"/>
            <a:ext cx="2523744" cy="379476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64550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354312" y="1810512"/>
            <a:ext cx="512064" cy="512064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354312" y="1810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354312" y="248716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 detection</a:t>
            </a:r>
            <a:endParaRPr lang="en-US" sz="1750" dirty="0"/>
          </a:p>
        </p:txBody>
      </p:sp>
      <p:sp>
        <p:nvSpPr>
          <p:cNvPr id="35" name="Text 33"/>
          <p:cNvSpPr txBox="1"/>
          <p:nvPr/>
        </p:nvSpPr>
        <p:spPr>
          <a:xfrm>
            <a:off x="9354312" y="29809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D645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looks unusual?</a:t>
            </a:r>
            <a:endParaRPr lang="en-US" sz="1230" dirty="0"/>
          </a:p>
        </p:txBody>
      </p:sp>
      <p:sp>
        <p:nvSpPr>
          <p:cNvPr id="36" name="Text 34"/>
          <p:cNvSpPr txBox="1"/>
          <p:nvPr/>
        </p:nvSpPr>
        <p:spPr>
          <a:xfrm>
            <a:off x="9354312" y="35112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example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9354312" y="37947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Suspicious transaction pattern</a:t>
            </a:r>
            <a:endParaRPr lang="en-US" sz="1220" dirty="0"/>
          </a:p>
        </p:txBody>
      </p:sp>
      <p:sp>
        <p:nvSpPr>
          <p:cNvPr id="38" name="Text 36"/>
          <p:cNvSpPr txBox="1"/>
          <p:nvPr/>
        </p:nvSpPr>
        <p:spPr>
          <a:xfrm>
            <a:off x="9354312" y="44165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354312" y="470001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Rare / atypical cases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Machine Learning lifecycle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performance is only one part of a production system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75488" y="1828800"/>
            <a:ext cx="457200" cy="4572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548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92608" y="2450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" y="281635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+ KPI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950976" y="2057400"/>
            <a:ext cx="667512" cy="0"/>
          </a:xfrm>
          <a:prstGeom prst="line">
            <a:avLst/>
          </a:prstGeom>
          <a:noFill/>
          <a:ln w="20320">
            <a:solidFill>
              <a:srgbClr val="9FB3C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21408" y="1828800"/>
            <a:ext cx="457200" cy="457200"/>
          </a:xfrm>
          <a:prstGeom prst="ellipse">
            <a:avLst/>
          </a:prstGeom>
          <a:solidFill>
            <a:srgbClr val="3AC6E8"/>
          </a:solidFill>
          <a:ln w="12700">
            <a:solidFill>
              <a:srgbClr val="3AC6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2140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938528" y="2450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773936" y="281635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+ quality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2596896" y="2057400"/>
            <a:ext cx="667512" cy="0"/>
          </a:xfrm>
          <a:prstGeom prst="line">
            <a:avLst/>
          </a:prstGeom>
          <a:noFill/>
          <a:ln w="20320">
            <a:solidFill>
              <a:srgbClr val="9FB3C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67328" y="1828800"/>
            <a:ext cx="457200" cy="45720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6732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84448" y="2450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19856" y="281635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 signal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4242816" y="2057400"/>
            <a:ext cx="667512" cy="0"/>
          </a:xfrm>
          <a:prstGeom prst="line">
            <a:avLst/>
          </a:prstGeom>
          <a:noFill/>
          <a:ln w="20320">
            <a:solidFill>
              <a:srgbClr val="9FB3C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13248" y="1828800"/>
            <a:ext cx="457200" cy="457200"/>
          </a:xfrm>
          <a:prstGeom prst="ellipse">
            <a:avLst/>
          </a:prstGeom>
          <a:solidFill>
            <a:srgbClr val="29A36A"/>
          </a:solidFill>
          <a:ln w="12700">
            <a:solidFill>
              <a:srgbClr val="29A3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1324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230368" y="2450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65776" y="281635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parameters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5888736" y="2057400"/>
            <a:ext cx="667512" cy="0"/>
          </a:xfrm>
          <a:prstGeom prst="line">
            <a:avLst/>
          </a:prstGeom>
          <a:noFill/>
          <a:ln w="20320">
            <a:solidFill>
              <a:srgbClr val="9FB3C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59168" y="1828800"/>
            <a:ext cx="457200" cy="45720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5916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876288" y="2450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11696" y="281635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+ risk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7534656" y="2057400"/>
            <a:ext cx="667512" cy="0"/>
          </a:xfrm>
          <a:prstGeom prst="line">
            <a:avLst/>
          </a:prstGeom>
          <a:noFill/>
          <a:ln w="20320">
            <a:solidFill>
              <a:srgbClr val="9FB3C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705088" y="1828800"/>
            <a:ext cx="457200" cy="457200"/>
          </a:xfrm>
          <a:prstGeom prst="ellipse">
            <a:avLst/>
          </a:prstGeom>
          <a:solidFill>
            <a:srgbClr val="F47C48"/>
          </a:solidFill>
          <a:ln w="12700">
            <a:solidFill>
              <a:srgbClr val="F47C4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70508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522208" y="2450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357616" y="281635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9180576" y="2057400"/>
            <a:ext cx="667512" cy="0"/>
          </a:xfrm>
          <a:prstGeom prst="line">
            <a:avLst/>
          </a:prstGeom>
          <a:noFill/>
          <a:ln w="20320">
            <a:solidFill>
              <a:srgbClr val="9FB3C8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351008" y="1828800"/>
            <a:ext cx="457200" cy="45720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35100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68128" y="2450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003536" y="281635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 + outcomes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960120" y="3886200"/>
            <a:ext cx="10241280" cy="1143000"/>
          </a:xfrm>
          <a:prstGeom prst="roundRect">
            <a:avLst>
              <a:gd name="adj" fmla="val 6400"/>
            </a:avLst>
          </a:prstGeom>
          <a:solidFill>
            <a:srgbClr val="EAF0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234440" y="41605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reality: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2560320" y="4078224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lineage, explainability, validation, controls, access management and monitoring are part of the solution — not afterthoughts.</a:t>
            </a:r>
            <a:endParaRPr lang="en-US" sz="13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Learning: learning representations automatically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networks reduce the need for manually engineered features, especially for complex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5840" y="1645920"/>
            <a:ext cx="274320" cy="274320"/>
          </a:xfrm>
          <a:prstGeom prst="ellipse">
            <a:avLst/>
          </a:prstGeom>
          <a:solidFill>
            <a:srgbClr val="2F6B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783080"/>
            <a:ext cx="1645920" cy="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783080"/>
            <a:ext cx="1645920" cy="84582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783080"/>
            <a:ext cx="1645920" cy="169164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783080"/>
            <a:ext cx="1645920" cy="253746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1783080"/>
            <a:ext cx="1645920" cy="338328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773680"/>
            <a:ext cx="274320" cy="274320"/>
          </a:xfrm>
          <a:prstGeom prst="ellipse">
            <a:avLst/>
          </a:prstGeom>
          <a:solidFill>
            <a:srgbClr val="2F6B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2910840"/>
            <a:ext cx="1645920" cy="-112776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2910840"/>
            <a:ext cx="1645920" cy="-28194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2910840"/>
            <a:ext cx="1645920" cy="56388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0160" y="2910840"/>
            <a:ext cx="1645920" cy="140970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80160" y="2910840"/>
            <a:ext cx="1645920" cy="225552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3901440"/>
            <a:ext cx="274320" cy="274320"/>
          </a:xfrm>
          <a:prstGeom prst="ellipse">
            <a:avLst/>
          </a:prstGeom>
          <a:solidFill>
            <a:srgbClr val="2F6B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80160" y="4038600"/>
            <a:ext cx="1645920" cy="-225552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0160" y="4038600"/>
            <a:ext cx="1645920" cy="-140970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0160" y="4038600"/>
            <a:ext cx="1645920" cy="-56388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0160" y="4038600"/>
            <a:ext cx="1645920" cy="28194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4038600"/>
            <a:ext cx="1645920" cy="112776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5029200"/>
            <a:ext cx="274320" cy="274320"/>
          </a:xfrm>
          <a:prstGeom prst="ellipse">
            <a:avLst/>
          </a:prstGeom>
          <a:solidFill>
            <a:srgbClr val="2F6B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80160" y="5166360"/>
            <a:ext cx="1645920" cy="-338328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80160" y="5166360"/>
            <a:ext cx="1645920" cy="-253746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0160" y="5166360"/>
            <a:ext cx="1645920" cy="-169164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80160" y="5166360"/>
            <a:ext cx="1645920" cy="-84582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0160" y="5166360"/>
            <a:ext cx="1645920" cy="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6080" y="1645920"/>
            <a:ext cx="274320" cy="274320"/>
          </a:xfrm>
          <a:prstGeom prst="ellipse">
            <a:avLst/>
          </a:prstGeom>
          <a:solidFill>
            <a:srgbClr val="00A6A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1783080"/>
            <a:ext cx="1554480" cy="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1783080"/>
            <a:ext cx="1554480" cy="84582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1783080"/>
            <a:ext cx="1554480" cy="169164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1783080"/>
            <a:ext cx="1554480" cy="253746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1783080"/>
            <a:ext cx="1554480" cy="338328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26080" y="2491740"/>
            <a:ext cx="274320" cy="274320"/>
          </a:xfrm>
          <a:prstGeom prst="ellipse">
            <a:avLst/>
          </a:prstGeom>
          <a:solidFill>
            <a:srgbClr val="00A6A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2628900"/>
            <a:ext cx="1554480" cy="-84582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2628900"/>
            <a:ext cx="1554480" cy="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2628900"/>
            <a:ext cx="1554480" cy="84582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2628900"/>
            <a:ext cx="1554480" cy="169164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2628900"/>
            <a:ext cx="1554480" cy="253746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26080" y="3337560"/>
            <a:ext cx="274320" cy="274320"/>
          </a:xfrm>
          <a:prstGeom prst="ellipse">
            <a:avLst/>
          </a:prstGeom>
          <a:solidFill>
            <a:srgbClr val="00A6A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3474720"/>
            <a:ext cx="1554480" cy="-169164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0" y="3474720"/>
            <a:ext cx="1554480" cy="-84582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0" y="3474720"/>
            <a:ext cx="1554480" cy="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3474720"/>
            <a:ext cx="1554480" cy="84582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3474720"/>
            <a:ext cx="1554480" cy="169164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26080" y="4183380"/>
            <a:ext cx="274320" cy="274320"/>
          </a:xfrm>
          <a:prstGeom prst="ellipse">
            <a:avLst/>
          </a:prstGeom>
          <a:solidFill>
            <a:srgbClr val="00A6A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0" y="4320540"/>
            <a:ext cx="1554480" cy="-253746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0" y="4320540"/>
            <a:ext cx="1554480" cy="-169164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0" y="4320540"/>
            <a:ext cx="1554480" cy="-84582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0" y="4320540"/>
            <a:ext cx="1554480" cy="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0" y="4320540"/>
            <a:ext cx="1554480" cy="84582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26080" y="5029200"/>
            <a:ext cx="274320" cy="274320"/>
          </a:xfrm>
          <a:prstGeom prst="ellipse">
            <a:avLst/>
          </a:prstGeom>
          <a:solidFill>
            <a:srgbClr val="00A6A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0" y="5166360"/>
            <a:ext cx="1554480" cy="-338328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0" y="5166360"/>
            <a:ext cx="1554480" cy="-253746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0" y="5166360"/>
            <a:ext cx="1554480" cy="-169164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00400" y="5166360"/>
            <a:ext cx="1554480" cy="-84582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00400" y="5166360"/>
            <a:ext cx="1554480" cy="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54880" y="1645920"/>
            <a:ext cx="274320" cy="274320"/>
          </a:xfrm>
          <a:prstGeom prst="ellipse">
            <a:avLst/>
          </a:prstGeom>
          <a:solidFill>
            <a:srgbClr val="00A6A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29200" y="1783080"/>
            <a:ext cx="1554480" cy="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29200" y="1783080"/>
            <a:ext cx="1554480" cy="112776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29200" y="1783080"/>
            <a:ext cx="1554480" cy="225552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29200" y="1783080"/>
            <a:ext cx="1554480" cy="338328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54880" y="2491740"/>
            <a:ext cx="274320" cy="274320"/>
          </a:xfrm>
          <a:prstGeom prst="ellipse">
            <a:avLst/>
          </a:prstGeom>
          <a:solidFill>
            <a:srgbClr val="00A6A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29200" y="2628900"/>
            <a:ext cx="1554480" cy="-84582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29200" y="2628900"/>
            <a:ext cx="1554480" cy="28194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29200" y="2628900"/>
            <a:ext cx="1554480" cy="140970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029200" y="2628900"/>
            <a:ext cx="1554480" cy="253746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0" y="3337560"/>
            <a:ext cx="274320" cy="274320"/>
          </a:xfrm>
          <a:prstGeom prst="ellipse">
            <a:avLst/>
          </a:prstGeom>
          <a:solidFill>
            <a:srgbClr val="00A6A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29200" y="3474720"/>
            <a:ext cx="1554480" cy="-169164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29200" y="3474720"/>
            <a:ext cx="1554480" cy="-56388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029200" y="3474720"/>
            <a:ext cx="1554480" cy="56388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029200" y="3474720"/>
            <a:ext cx="1554480" cy="169164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754880" y="4183380"/>
            <a:ext cx="274320" cy="274320"/>
          </a:xfrm>
          <a:prstGeom prst="ellipse">
            <a:avLst/>
          </a:prstGeom>
          <a:solidFill>
            <a:srgbClr val="00A6A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029200" y="4320540"/>
            <a:ext cx="1554480" cy="-253746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29200" y="4320540"/>
            <a:ext cx="1554480" cy="-140970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029200" y="4320540"/>
            <a:ext cx="1554480" cy="-28194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29200" y="4320540"/>
            <a:ext cx="1554480" cy="84582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0" y="5029200"/>
            <a:ext cx="274320" cy="274320"/>
          </a:xfrm>
          <a:prstGeom prst="ellipse">
            <a:avLst/>
          </a:prstGeom>
          <a:solidFill>
            <a:srgbClr val="00A6A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029200" y="5166360"/>
            <a:ext cx="1554480" cy="-338328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029200" y="5166360"/>
            <a:ext cx="1554480" cy="-225552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029200" y="5166360"/>
            <a:ext cx="1554480" cy="-112776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029200" y="5166360"/>
            <a:ext cx="1554480" cy="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583680" y="1645920"/>
            <a:ext cx="274320" cy="274320"/>
          </a:xfrm>
          <a:prstGeom prst="ellipse">
            <a:avLst/>
          </a:prstGeom>
          <a:solidFill>
            <a:srgbClr val="00A6A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858000" y="1783080"/>
            <a:ext cx="1920240" cy="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858000" y="1783080"/>
            <a:ext cx="1920240" cy="338328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583680" y="2773680"/>
            <a:ext cx="274320" cy="274320"/>
          </a:xfrm>
          <a:prstGeom prst="ellipse">
            <a:avLst/>
          </a:prstGeom>
          <a:solidFill>
            <a:srgbClr val="00A6A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858000" y="2910840"/>
            <a:ext cx="1920240" cy="-112776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858000" y="2910840"/>
            <a:ext cx="1920240" cy="225552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583680" y="3901440"/>
            <a:ext cx="274320" cy="274320"/>
          </a:xfrm>
          <a:prstGeom prst="ellipse">
            <a:avLst/>
          </a:prstGeom>
          <a:solidFill>
            <a:srgbClr val="00A6A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858000" y="4038600"/>
            <a:ext cx="1920240" cy="-225552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858000" y="4038600"/>
            <a:ext cx="1920240" cy="112776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583680" y="5029200"/>
            <a:ext cx="274320" cy="274320"/>
          </a:xfrm>
          <a:prstGeom prst="ellipse">
            <a:avLst/>
          </a:prstGeom>
          <a:solidFill>
            <a:srgbClr val="00A6A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858000" y="5166360"/>
            <a:ext cx="1920240" cy="-338328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858000" y="5166360"/>
            <a:ext cx="1920240" cy="0"/>
          </a:xfrm>
          <a:prstGeom prst="line">
            <a:avLst/>
          </a:prstGeom>
          <a:noFill/>
          <a:ln w="8890">
            <a:solidFill>
              <a:srgbClr val="C9D4DF">
                <a:alpha val="8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778240" y="1645920"/>
            <a:ext cx="274320" cy="274320"/>
          </a:xfrm>
          <a:prstGeom prst="ellipse">
            <a:avLst/>
          </a:prstGeom>
          <a:solidFill>
            <a:srgbClr val="29A36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778240" y="5029200"/>
            <a:ext cx="274320" cy="274320"/>
          </a:xfrm>
          <a:prstGeom prst="ellipse">
            <a:avLst/>
          </a:prstGeom>
          <a:solidFill>
            <a:srgbClr val="29A36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594360" y="54864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050" dirty="0"/>
          </a:p>
        </p:txBody>
      </p:sp>
      <p:sp>
        <p:nvSpPr>
          <p:cNvPr id="98" name="Text 96"/>
          <p:cNvSpPr txBox="1"/>
          <p:nvPr/>
        </p:nvSpPr>
        <p:spPr>
          <a:xfrm>
            <a:off x="2743200" y="548640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LAYERS</a:t>
            </a:r>
            <a:endParaRPr lang="en-US" sz="1050" dirty="0"/>
          </a:p>
        </p:txBody>
      </p:sp>
      <p:sp>
        <p:nvSpPr>
          <p:cNvPr id="99" name="Text 97"/>
          <p:cNvSpPr txBox="1"/>
          <p:nvPr/>
        </p:nvSpPr>
        <p:spPr>
          <a:xfrm>
            <a:off x="8549640" y="5486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9921240" y="1645920"/>
            <a:ext cx="1627632" cy="3474720"/>
          </a:xfrm>
          <a:prstGeom prst="roundRect">
            <a:avLst>
              <a:gd name="adj" fmla="val 4494"/>
            </a:avLst>
          </a:prstGeom>
          <a:solidFill>
            <a:srgbClr val="EAF7F7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10104120" y="188366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“deep”?</a:t>
            </a:r>
            <a:endParaRPr lang="en-US" sz="1600" dirty="0"/>
          </a:p>
        </p:txBody>
      </p:sp>
      <p:sp>
        <p:nvSpPr>
          <p:cNvPr id="102" name="Text 100"/>
          <p:cNvSpPr/>
          <p:nvPr/>
        </p:nvSpPr>
        <p:spPr>
          <a:xfrm>
            <a:off x="10058400" y="2487168"/>
            <a:ext cx="137160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6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stacked layers</a:t>
            </a:r>
            <a:endParaRPr lang="en-US" sz="1160" dirty="0"/>
          </a:p>
          <a:p>
            <a:pPr marL="177800" indent="-177800">
              <a:buSzPct val="100000"/>
              <a:buChar char="•"/>
            </a:pPr>
            <a:r>
              <a:rPr lang="en-US" sz="116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increasingly abstract features</a:t>
            </a:r>
            <a:endParaRPr lang="en-US" sz="1160" dirty="0"/>
          </a:p>
          <a:p>
            <a:pPr marL="177800" indent="-177800">
              <a:buSzPct val="100000"/>
              <a:buChar char="•"/>
            </a:pPr>
            <a:r>
              <a:rPr lang="en-US" sz="116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Scales well with large data and compute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AI, ML, Deep Learning and GenAI relate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overlaps strongly with Deep Learning, but “generative” describes what a model does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5840" y="1417320"/>
            <a:ext cx="9692640" cy="4480560"/>
          </a:xfrm>
          <a:prstGeom prst="ellipse">
            <a:avLst/>
          </a:prstGeom>
          <a:solidFill>
            <a:srgbClr val="E9EEF5"/>
          </a:solidFill>
          <a:ln w="19050">
            <a:solidFill>
              <a:srgbClr val="AAB9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6276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11680" y="1965960"/>
            <a:ext cx="7543800" cy="3566160"/>
          </a:xfrm>
          <a:prstGeom prst="ellipse">
            <a:avLst/>
          </a:prstGeom>
          <a:solidFill>
            <a:srgbClr val="EAF0FF"/>
          </a:solidFill>
          <a:ln w="22860">
            <a:solidFill>
              <a:srgbClr val="2F6B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23160" y="22128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2560320"/>
            <a:ext cx="5257800" cy="2651760"/>
          </a:xfrm>
          <a:prstGeom prst="ellipse">
            <a:avLst/>
          </a:prstGeom>
          <a:solidFill>
            <a:srgbClr val="EAF7F7"/>
          </a:solidFill>
          <a:ln w="22860">
            <a:solidFill>
              <a:srgbClr val="00A6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279806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0" y="2980944"/>
            <a:ext cx="3657600" cy="1874520"/>
          </a:xfrm>
          <a:prstGeom prst="ellipse">
            <a:avLst/>
          </a:prstGeom>
          <a:solidFill>
            <a:srgbClr val="EAF7F0"/>
          </a:solidFill>
          <a:ln w="22860">
            <a:solidFill>
              <a:srgbClr val="29A3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89320" y="32369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9A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6634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 outside ML: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 systems, planning, search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46817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trees, linear models, SVMs</a:t>
            </a:r>
            <a:endParaRPr lang="en-US" sz="108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46817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CNNs, transformers, deep nets</a:t>
            </a:r>
            <a:endParaRPr lang="en-US" sz="108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0050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LLMs, image and multimodal models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64592"/>
            <a:ext cx="2240280" cy="2240280"/>
          </a:xfrm>
          <a:prstGeom prst="ellipse">
            <a:avLst/>
          </a:prstGeom>
          <a:solidFill>
            <a:srgbClr val="143955">
              <a:alpha val="90000"/>
            </a:srgbClr>
          </a:solidFill>
          <a:ln w="12700">
            <a:solidFill>
              <a:srgbClr val="14395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0" y="658368"/>
            <a:ext cx="1417320" cy="1417320"/>
          </a:xfrm>
          <a:prstGeom prst="ellipse">
            <a:avLst/>
          </a:prstGeom>
          <a:solidFill>
            <a:srgbClr val="2F6BFF">
              <a:alpha val="65000"/>
            </a:srgbClr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and Foundation Models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C7D5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— and why the change matters for enterprise work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AI: models that create new content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produces an output that is statistically consistent with patterns learned during training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00784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language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70078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“Summarize this policy”</a:t>
            </a:r>
            <a:endParaRPr lang="en-US" sz="1070" dirty="0"/>
          </a:p>
        </p:txBody>
      </p:sp>
      <p:sp>
        <p:nvSpPr>
          <p:cNvPr id="7" name="Shape 5"/>
          <p:cNvSpPr/>
          <p:nvPr/>
        </p:nvSpPr>
        <p:spPr>
          <a:xfrm>
            <a:off x="3474720" y="1956816"/>
            <a:ext cx="685800" cy="1014984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" y="2542032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3AC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642616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264261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PDFs, emails, reports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3474720" y="2898648"/>
            <a:ext cx="685800" cy="73152"/>
          </a:xfrm>
          <a:prstGeom prst="line">
            <a:avLst/>
          </a:prstGeom>
          <a:noFill/>
          <a:ln w="19050">
            <a:solidFill>
              <a:srgbClr val="3AC6E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3483864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47C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584448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 / audio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358444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or speech input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3474720" y="3840480"/>
            <a:ext cx="685800" cy="-868680"/>
          </a:xfrm>
          <a:prstGeom prst="line">
            <a:avLst/>
          </a:prstGeom>
          <a:noFill/>
          <a:ln w="19050">
            <a:solidFill>
              <a:srgbClr val="F47C4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5800" y="4425696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9A3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52628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/ code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4526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Tables, SQL, Python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3474720" y="4782312"/>
            <a:ext cx="685800" cy="-1810512"/>
          </a:xfrm>
          <a:prstGeom prst="line">
            <a:avLst/>
          </a:prstGeom>
          <a:noFill/>
          <a:ln w="19050">
            <a:solidFill>
              <a:srgbClr val="29A36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87952" y="1965960"/>
            <a:ext cx="2971800" cy="2057400"/>
          </a:xfrm>
          <a:prstGeom prst="roundRect">
            <a:avLst>
              <a:gd name="adj" fmla="val 4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87952" y="24231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2500" dirty="0"/>
          </a:p>
        </p:txBody>
      </p:sp>
      <p:sp>
        <p:nvSpPr>
          <p:cNvPr id="22" name="Shape 20"/>
          <p:cNvSpPr/>
          <p:nvPr/>
        </p:nvSpPr>
        <p:spPr>
          <a:xfrm>
            <a:off x="4617720" y="4224528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90872" y="424281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MODEL / LLM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78040" y="2971800"/>
            <a:ext cx="640080" cy="-1014984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863840" y="1600200"/>
            <a:ext cx="3401568" cy="713232"/>
          </a:xfrm>
          <a:prstGeom prst="roundRect">
            <a:avLst>
              <a:gd name="adj" fmla="val 10256"/>
            </a:avLst>
          </a:prstGeom>
          <a:solidFill>
            <a:srgbClr val="EAF0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0" y="1700784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144000" y="17007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Answer, draft, summary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7178040" y="2971800"/>
            <a:ext cx="640080" cy="-73152"/>
          </a:xfrm>
          <a:prstGeom prst="line">
            <a:avLst/>
          </a:prstGeom>
          <a:noFill/>
          <a:ln w="19050">
            <a:solidFill>
              <a:srgbClr val="29A36A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863840" y="2542032"/>
            <a:ext cx="3401568" cy="713232"/>
          </a:xfrm>
          <a:prstGeom prst="roundRect">
            <a:avLst>
              <a:gd name="adj" fmla="val 10256"/>
            </a:avLst>
          </a:prstGeom>
          <a:solidFill>
            <a:srgbClr val="EAF7F0"/>
          </a:solidFill>
          <a:ln w="12700">
            <a:solidFill>
              <a:srgbClr val="29A36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46720" y="2642616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output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144000" y="26426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JSON, table, extraction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7178040" y="2971800"/>
            <a:ext cx="640080" cy="86868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863840" y="3483864"/>
            <a:ext cx="3401568" cy="713232"/>
          </a:xfrm>
          <a:prstGeom prst="roundRect">
            <a:avLst>
              <a:gd name="adj" fmla="val 10256"/>
            </a:avLst>
          </a:prstGeom>
          <a:solidFill>
            <a:srgbClr val="EAF7F7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0" y="3584448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144000" y="35844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SQL, Python, tests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7178040" y="2971800"/>
            <a:ext cx="640080" cy="1810512"/>
          </a:xfrm>
          <a:prstGeom prst="line">
            <a:avLst/>
          </a:prstGeom>
          <a:noFill/>
          <a:ln w="19050">
            <a:solidFill>
              <a:srgbClr val="F47C48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863840" y="4425696"/>
            <a:ext cx="3401568" cy="713232"/>
          </a:xfrm>
          <a:prstGeom prst="roundRect">
            <a:avLst>
              <a:gd name="adj" fmla="val 10256"/>
            </a:avLst>
          </a:prstGeom>
          <a:solidFill>
            <a:srgbClr val="FFF1EA"/>
          </a:solidFill>
          <a:ln w="12700">
            <a:solidFill>
              <a:srgbClr val="F47C4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46720" y="452628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Multimodal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9144000" y="4526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Image, speech, combinations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Discriminative vs Generative models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predictive ML estimates an answer; generative models construct a new output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52120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764792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" y="1783080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DISCRIMINATIVE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042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a label or value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9077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00200" y="2807208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73352" y="2825496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features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0128" y="2990088"/>
            <a:ext cx="576072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05072" y="2807208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78224" y="282549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probability = 0.84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675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banking tasks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968496"/>
            <a:ext cx="448056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scoring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detection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Churn propensity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Forecasting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6245352" y="1481328"/>
            <a:ext cx="52120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1764792"/>
            <a:ext cx="1207008" cy="347472"/>
          </a:xfrm>
          <a:prstGeom prst="roundRect">
            <a:avLst>
              <a:gd name="adj" fmla="val 21053"/>
            </a:avLst>
          </a:prstGeom>
          <a:solidFill>
            <a:srgbClr val="EAF7F7"/>
          </a:solidFill>
          <a:ln w="12700">
            <a:solidFill>
              <a:srgbClr val="EAF7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47104" y="1783080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73952" y="230428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or transform content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29077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14032" y="2807208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87184" y="2825496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meeting notes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23960" y="2990088"/>
            <a:ext cx="530352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464040" y="2807208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AF7F7"/>
          </a:solidFill>
          <a:ln w="12700">
            <a:solidFill>
              <a:srgbClr val="EAF7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37192" y="2825496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summary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73952" y="3675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banking tasks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73952" y="3968496"/>
            <a:ext cx="448056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Summarization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Drafting and rewriting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Extraction from documents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Conversational assistance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task-specific models to foundation models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economic shift: reuse one broad pretrained model across many downstream tasks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447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" y="1828800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1993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model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" y="2761488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47C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Churn model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3694176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7552" y="3858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classifier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" y="4626864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9A3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47914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extractor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564184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data, features, training and maintenance for each model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4251960" y="3520440"/>
            <a:ext cx="822960" cy="0"/>
          </a:xfrm>
          <a:prstGeom prst="line">
            <a:avLst/>
          </a:prstGeom>
          <a:noFill/>
          <a:ln w="26670">
            <a:solidFill>
              <a:srgbClr val="AAB9C8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212080" y="14447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2080" y="1874520"/>
            <a:ext cx="2926080" cy="3200400"/>
          </a:xfrm>
          <a:prstGeom prst="roundRect">
            <a:avLst>
              <a:gd name="adj" fmla="val 25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2670048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5596128" y="385876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Pretrained on broad data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65592" y="3456432"/>
            <a:ext cx="630936" cy="-1399032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87968" y="173736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0" y="175564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65592" y="3456432"/>
            <a:ext cx="630936" cy="-557784"/>
          </a:xfrm>
          <a:prstGeom prst="line">
            <a:avLst/>
          </a:prstGeom>
          <a:noFill/>
          <a:ln w="17780">
            <a:solidFill>
              <a:srgbClr val="29A36A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887968" y="2578608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61120" y="2596896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9A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65592" y="3456432"/>
            <a:ext cx="630936" cy="283464"/>
          </a:xfrm>
          <a:prstGeom prst="line">
            <a:avLst/>
          </a:prstGeom>
          <a:noFill/>
          <a:ln w="17780">
            <a:solidFill>
              <a:srgbClr val="F47C4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87968" y="3419856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61120" y="3438144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7C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65592" y="3456432"/>
            <a:ext cx="630936" cy="1124712"/>
          </a:xfrm>
          <a:prstGeom prst="line">
            <a:avLst/>
          </a:prstGeom>
          <a:noFill/>
          <a:ln w="1778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887968" y="4261104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AF7F7"/>
          </a:solidFill>
          <a:ln w="12700">
            <a:solidFill>
              <a:srgbClr val="EAF7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61120" y="427939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65592" y="3456432"/>
            <a:ext cx="630936" cy="1965960"/>
          </a:xfrm>
          <a:prstGeom prst="line">
            <a:avLst/>
          </a:prstGeom>
          <a:noFill/>
          <a:ln w="17780">
            <a:solidFill>
              <a:srgbClr val="3AC6E8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887968" y="5102352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AF8FC"/>
          </a:solidFill>
          <a:ln w="12700">
            <a:solidFill>
              <a:srgbClr val="EAF8F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61120" y="5120640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C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230368" y="5422392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 with prompts, context, retrieval, tools or fine-tuning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with Generative AI?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shifts explain why GenAI feels different from previous waves of enterprise AI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490472"/>
            <a:ext cx="438912" cy="43891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90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1732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language becomes an interface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4956048" y="1399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can ask, instruct and refine rather than learn a specialized UI.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1371600" y="2075688"/>
            <a:ext cx="982980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423160"/>
            <a:ext cx="438912" cy="43891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423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5000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model, many tasks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956048" y="2331720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foundation model can summarize, classify, extract, draft and reason over context.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1371600" y="3008376"/>
            <a:ext cx="982980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355848"/>
            <a:ext cx="438912" cy="438912"/>
          </a:xfrm>
          <a:prstGeom prst="ellipse">
            <a:avLst/>
          </a:prstGeom>
          <a:solidFill>
            <a:srgbClr val="29A36A"/>
          </a:solidFill>
          <a:ln w="12700">
            <a:solidFill>
              <a:srgbClr val="29A3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355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28269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Zero-shot and few-shot behavior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4956048" y="3264408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outputs are possible without training a new model for every task.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1371600" y="3941064"/>
            <a:ext cx="982980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288536"/>
            <a:ext cx="438912" cy="438912"/>
          </a:xfrm>
          <a:prstGeom prst="ellipse">
            <a:avLst/>
          </a:prstGeom>
          <a:solidFill>
            <a:srgbClr val="F47C48"/>
          </a:solidFill>
          <a:ln w="12700">
            <a:solidFill>
              <a:srgbClr val="F47C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288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21538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Unstructured data becomes more accessible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4956048" y="4197096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Documents, emails, policies and conversations become easier to search and transform.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1371600" y="4873752"/>
            <a:ext cx="982980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221224"/>
            <a:ext cx="438912" cy="438912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221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514807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use tools and enterprise context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4956048" y="5129784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can retrieve approved information, call APIs and orchestrate workflows.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Large Language Model works — high level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training objective is simple; the learned behavior is powerful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993392"/>
            <a:ext cx="438912" cy="43891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993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58775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Tokenize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301752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 text into tokens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2560320" y="2834640"/>
            <a:ext cx="219456" cy="0"/>
          </a:xfrm>
          <a:prstGeom prst="line">
            <a:avLst/>
          </a:prstGeom>
          <a:noFill/>
          <a:ln w="17780">
            <a:solidFill>
              <a:srgbClr val="AAB9C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34640" y="1828800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3AC6E8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71800" y="1993392"/>
            <a:ext cx="438912" cy="438912"/>
          </a:xfrm>
          <a:prstGeom prst="ellipse">
            <a:avLst/>
          </a:prstGeom>
          <a:solidFill>
            <a:srgbClr val="3AC6E8"/>
          </a:solidFill>
          <a:ln w="12700">
            <a:solidFill>
              <a:srgbClr val="3AC6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71800" y="1993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258775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301752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 tokens as vectors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4828032" y="2834640"/>
            <a:ext cx="219456" cy="0"/>
          </a:xfrm>
          <a:prstGeom prst="line">
            <a:avLst/>
          </a:prstGeom>
          <a:noFill/>
          <a:ln w="17780">
            <a:solidFill>
              <a:srgbClr val="AAB9C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02352" y="1828800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39512" y="1993392"/>
            <a:ext cx="438912" cy="43891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39512" y="1993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239512" y="258775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5239512" y="301752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 information across the context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7095744" y="2834640"/>
            <a:ext cx="219456" cy="0"/>
          </a:xfrm>
          <a:prstGeom prst="line">
            <a:avLst/>
          </a:prstGeom>
          <a:noFill/>
          <a:ln w="17780">
            <a:solidFill>
              <a:srgbClr val="AAB9C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70064" y="1828800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29A36A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07224" y="1993392"/>
            <a:ext cx="438912" cy="438912"/>
          </a:xfrm>
          <a:prstGeom prst="ellipse">
            <a:avLst/>
          </a:prstGeom>
          <a:solidFill>
            <a:srgbClr val="29A36A"/>
          </a:solidFill>
          <a:ln w="12700">
            <a:solidFill>
              <a:srgbClr val="29A36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07224" y="1993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507224" y="258775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7507224" y="301752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the next-token distribution</a:t>
            </a:r>
            <a:endParaRPr lang="en-US" sz="1160" dirty="0"/>
          </a:p>
        </p:txBody>
      </p:sp>
      <p:sp>
        <p:nvSpPr>
          <p:cNvPr id="27" name="Shape 25"/>
          <p:cNvSpPr/>
          <p:nvPr/>
        </p:nvSpPr>
        <p:spPr>
          <a:xfrm>
            <a:off x="9363456" y="2834640"/>
            <a:ext cx="219456" cy="0"/>
          </a:xfrm>
          <a:prstGeom prst="line">
            <a:avLst/>
          </a:prstGeom>
          <a:noFill/>
          <a:ln w="17780">
            <a:solidFill>
              <a:srgbClr val="AAB9C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37776" y="1828800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F47C48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74936" y="1993392"/>
            <a:ext cx="438912" cy="438912"/>
          </a:xfrm>
          <a:prstGeom prst="ellipse">
            <a:avLst/>
          </a:prstGeom>
          <a:solidFill>
            <a:srgbClr val="F47C48"/>
          </a:solidFill>
          <a:ln w="12700">
            <a:solidFill>
              <a:srgbClr val="F47C4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74936" y="1993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774936" y="258775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1650" dirty="0"/>
          </a:p>
        </p:txBody>
      </p:sp>
      <p:sp>
        <p:nvSpPr>
          <p:cNvPr id="32" name="Text 30"/>
          <p:cNvSpPr txBox="1"/>
          <p:nvPr/>
        </p:nvSpPr>
        <p:spPr>
          <a:xfrm>
            <a:off x="9774936" y="301752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token by token</a:t>
            </a:r>
            <a:endParaRPr lang="en-US" sz="1160" dirty="0"/>
          </a:p>
        </p:txBody>
      </p:sp>
      <p:sp>
        <p:nvSpPr>
          <p:cNvPr id="33" name="Shape 31"/>
          <p:cNvSpPr/>
          <p:nvPr/>
        </p:nvSpPr>
        <p:spPr>
          <a:xfrm>
            <a:off x="914400" y="4315968"/>
            <a:ext cx="10378440" cy="1097280"/>
          </a:xfrm>
          <a:prstGeom prst="roundRect">
            <a:avLst>
              <a:gd name="adj" fmla="val 6667"/>
            </a:avLst>
          </a:prstGeom>
          <a:solidFill>
            <a:srgbClr val="EAF7F7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170432" y="4553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2148840" y="4462272"/>
            <a:ext cx="8549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LLMs do not retrieve a stored “answer” from a database by default. They generate the most plausible continuation given the model and the context.</a:t>
            </a:r>
            <a:endParaRPr lang="en-US" sz="13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Prompt, context, grounding and tools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value comes from combining the model with controlled context and systems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EAF0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208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intent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or task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85800" y="38862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1EA"/>
          </a:solidFill>
          <a:ln w="12700">
            <a:solidFill>
              <a:srgbClr val="F47C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0325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89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Role, rules, output format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657600" y="146304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EAF7F7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16093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context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1965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Policies, documents, data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3657600" y="429768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EAF7F0"/>
          </a:solidFill>
          <a:ln w="12700">
            <a:solidFill>
              <a:srgbClr val="29A3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94760" y="44439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/ APIs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4800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Search, databases, workflows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720840" y="224028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238658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model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D6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 over context and compose output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555480" y="224028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EAF8FC"/>
          </a:solidFill>
          <a:ln w="12700">
            <a:solidFill>
              <a:srgbClr val="3AC6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92640" y="23865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/ action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9692640" y="2743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Answer, draft, structured output, tool action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2624328" y="2450592"/>
            <a:ext cx="4050792" cy="292608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624328" y="4462272"/>
            <a:ext cx="4050792" cy="-1216152"/>
          </a:xfrm>
          <a:prstGeom prst="line">
            <a:avLst/>
          </a:prstGeom>
          <a:noFill/>
          <a:ln w="19050">
            <a:solidFill>
              <a:srgbClr val="F47C4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943600" y="2029968"/>
            <a:ext cx="731520" cy="621792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43600" y="4864608"/>
            <a:ext cx="731520" cy="-1389888"/>
          </a:xfrm>
          <a:prstGeom prst="line">
            <a:avLst/>
          </a:prstGeom>
          <a:noFill/>
          <a:ln w="19050">
            <a:solidFill>
              <a:srgbClr val="29A36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35440" y="2816352"/>
            <a:ext cx="301752" cy="0"/>
          </a:xfrm>
          <a:prstGeom prst="line">
            <a:avLst/>
          </a:prstGeom>
          <a:noFill/>
          <a:ln w="22860">
            <a:solidFill>
              <a:srgbClr val="3AC6E8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Prompting vs RAG vs Fine-tuning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different adaptation mechanisms — often used together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527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1252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changes?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069080" y="12527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2527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need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098280" y="1252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fit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110185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901952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192024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Prompting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1673352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 the model what to do</a:t>
            </a:r>
            <a:endParaRPr lang="en-US" sz="1130" dirty="0"/>
          </a:p>
        </p:txBody>
      </p:sp>
      <p:sp>
        <p:nvSpPr>
          <p:cNvPr id="13" name="Text 11"/>
          <p:cNvSpPr txBox="1"/>
          <p:nvPr/>
        </p:nvSpPr>
        <p:spPr>
          <a:xfrm>
            <a:off x="4069080" y="1673352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Fastest; no training</a:t>
            </a:r>
            <a:endParaRPr lang="en-US" sz="113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1673352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instructions, formatting, examples</a:t>
            </a:r>
            <a:endParaRPr lang="en-US" sz="112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1673352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tasks start here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548640" y="2953512"/>
            <a:ext cx="11018520" cy="1207008"/>
          </a:xfrm>
          <a:prstGeom prst="roundRect">
            <a:avLst>
              <a:gd name="adj" fmla="val 6061"/>
            </a:avLst>
          </a:prstGeom>
          <a:solidFill>
            <a:srgbClr val="F9FBFD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346704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EAF7F7"/>
          </a:solidFill>
          <a:ln w="12700">
            <a:solidFill>
              <a:srgbClr val="EAF7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364992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240280" y="3118104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trusted enterprise information into context</a:t>
            </a:r>
            <a:endParaRPr lang="en-US" sz="1130" dirty="0"/>
          </a:p>
        </p:txBody>
      </p:sp>
      <p:sp>
        <p:nvSpPr>
          <p:cNvPr id="20" name="Text 18"/>
          <p:cNvSpPr txBox="1"/>
          <p:nvPr/>
        </p:nvSpPr>
        <p:spPr>
          <a:xfrm>
            <a:off x="4069080" y="3118104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answers grounded and current</a:t>
            </a:r>
            <a:endParaRPr lang="en-US" sz="113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118104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bases, policies, product documentation</a:t>
            </a:r>
            <a:endParaRPr lang="en-US" sz="112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3118104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Q&amp;A, policy assistance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548640" y="4398264"/>
            <a:ext cx="110185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791456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4809744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7C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Fine-tuning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240280" y="4562856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 model parameters using curated examples</a:t>
            </a:r>
            <a:endParaRPr lang="en-US" sz="1130" dirty="0"/>
          </a:p>
        </p:txBody>
      </p:sp>
      <p:sp>
        <p:nvSpPr>
          <p:cNvPr id="27" name="Text 25"/>
          <p:cNvSpPr txBox="1"/>
          <p:nvPr/>
        </p:nvSpPr>
        <p:spPr>
          <a:xfrm>
            <a:off x="4069080" y="4562856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style or task behavior</a:t>
            </a:r>
            <a:endParaRPr lang="en-US" sz="113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4562856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formats, specialized classification, domain behavior</a:t>
            </a:r>
            <a:endParaRPr lang="en-US" sz="1120" dirty="0"/>
          </a:p>
        </p:txBody>
      </p:sp>
      <p:sp>
        <p:nvSpPr>
          <p:cNvPr id="29" name="Text 27"/>
          <p:cNvSpPr txBox="1"/>
          <p:nvPr/>
        </p:nvSpPr>
        <p:spPr>
          <a:xfrm>
            <a:off x="9098280" y="4562856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prompting alone is not enough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AI: capabilities and limitations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flexibility that makes GenAI useful also creates new control requirements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EAF7F0"/>
          </a:solidFill>
          <a:ln w="12700">
            <a:solidFill>
              <a:srgbClr val="29A36A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64792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178308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9A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AT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4526280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1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Summarizing and transforming language</a:t>
            </a:r>
            <a:endParaRPr lang="en-US" sz="1410" dirty="0"/>
          </a:p>
          <a:p>
            <a:pPr marL="177800" indent="-177800">
              <a:buSzPct val="100000"/>
              <a:buChar char="•"/>
            </a:pPr>
            <a:r>
              <a:rPr lang="en-US" sz="141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Drafting and rewriting</a:t>
            </a:r>
            <a:endParaRPr lang="en-US" sz="1410" dirty="0"/>
          </a:p>
          <a:p>
            <a:pPr marL="177800" indent="-177800">
              <a:buSzPct val="100000"/>
              <a:buChar char="•"/>
            </a:pPr>
            <a:r>
              <a:rPr lang="en-US" sz="141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Extracting information into structured formats</a:t>
            </a:r>
            <a:endParaRPr lang="en-US" sz="1410" dirty="0"/>
          </a:p>
          <a:p>
            <a:pPr marL="177800" indent="-177800">
              <a:buSzPct val="100000"/>
              <a:buChar char="•"/>
            </a:pPr>
            <a:r>
              <a:rPr lang="en-US" sz="141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Explaining, brainstorming and Q&amp;A</a:t>
            </a:r>
            <a:endParaRPr lang="en-US" sz="1410" dirty="0"/>
          </a:p>
          <a:p>
            <a:pPr marL="177800" indent="-177800">
              <a:buSzPct val="100000"/>
              <a:buChar char="•"/>
            </a:pPr>
            <a:r>
              <a:rPr lang="en-US" sz="141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across large amounts of unstructured content</a:t>
            </a:r>
            <a:endParaRPr lang="en-US" sz="1410" dirty="0"/>
          </a:p>
          <a:p>
            <a:pPr marL="177800" indent="-177800">
              <a:buSzPct val="100000"/>
              <a:buChar char="•"/>
            </a:pPr>
            <a:r>
              <a:rPr lang="en-US" sz="141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Generating code or queries with human review</a:t>
            </a:r>
            <a:endParaRPr lang="en-US" sz="1410" dirty="0"/>
          </a:p>
        </p:txBody>
      </p:sp>
      <p:sp>
        <p:nvSpPr>
          <p:cNvPr id="8" name="Shape 6"/>
          <p:cNvSpPr/>
          <p:nvPr/>
        </p:nvSpPr>
        <p:spPr>
          <a:xfrm>
            <a:off x="6245352" y="150876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DEEEF"/>
          </a:solidFill>
          <a:ln w="12700">
            <a:solidFill>
              <a:srgbClr val="D64550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3952" y="1764792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47104" y="178308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45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FOR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19672" y="2331720"/>
            <a:ext cx="4526280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1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Hallucinations and unsupported claims</a:t>
            </a:r>
            <a:endParaRPr lang="en-US" sz="1410" dirty="0"/>
          </a:p>
          <a:p>
            <a:pPr marL="177800" indent="-177800">
              <a:buSzPct val="100000"/>
              <a:buChar char="•"/>
            </a:pPr>
            <a:r>
              <a:rPr lang="en-US" sz="141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sensitivity and inconsistent output</a:t>
            </a:r>
            <a:endParaRPr lang="en-US" sz="1410" dirty="0"/>
          </a:p>
          <a:p>
            <a:pPr marL="177800" indent="-177800">
              <a:buSzPct val="100000"/>
              <a:buChar char="•"/>
            </a:pPr>
            <a:r>
              <a:rPr lang="en-US" sz="141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Confidentiality and data leakage risks</a:t>
            </a:r>
            <a:endParaRPr lang="en-US" sz="1410" dirty="0"/>
          </a:p>
          <a:p>
            <a:pPr marL="177800" indent="-177800">
              <a:buSzPct val="100000"/>
              <a:buChar char="•"/>
            </a:pPr>
            <a:r>
              <a:rPr lang="en-US" sz="141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 and uneven performance across cases</a:t>
            </a:r>
            <a:endParaRPr lang="en-US" sz="1410" dirty="0"/>
          </a:p>
          <a:p>
            <a:pPr marL="177800" indent="-177800">
              <a:buSzPct val="100000"/>
              <a:buChar char="•"/>
            </a:pPr>
            <a:r>
              <a:rPr lang="en-US" sz="141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Over-reliance by users</a:t>
            </a:r>
            <a:endParaRPr lang="en-US" sz="1410" dirty="0"/>
          </a:p>
          <a:p>
            <a:pPr marL="177800" indent="-177800">
              <a:buSzPct val="100000"/>
              <a:buChar char="•"/>
            </a:pPr>
            <a:r>
              <a:rPr lang="en-US" sz="141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for permissions, logging and human accountability</a:t>
            </a:r>
            <a:endParaRPr lang="en-US" sz="14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9A36A"/>
          </a:solidFill>
          <a:ln w="12700">
            <a:solidFill>
              <a:srgbClr val="29A3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64592"/>
            <a:ext cx="2240280" cy="2240280"/>
          </a:xfrm>
          <a:prstGeom prst="ellipse">
            <a:avLst/>
          </a:prstGeom>
          <a:solidFill>
            <a:srgbClr val="143955">
              <a:alpha val="90000"/>
            </a:srgbClr>
          </a:solidFill>
          <a:ln w="12700">
            <a:solidFill>
              <a:srgbClr val="14395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0" y="658368"/>
            <a:ext cx="1417320" cy="1417320"/>
          </a:xfrm>
          <a:prstGeom prst="ellipse">
            <a:avLst/>
          </a:prstGeom>
          <a:solidFill>
            <a:srgbClr val="29A36A">
              <a:alpha val="65000"/>
            </a:srgbClr>
          </a:solidFill>
          <a:ln w="12700">
            <a:solidFill>
              <a:srgbClr val="29A36A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9A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Banking Use Cases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C7D5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the AI technique to the business problem — not the other way around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AI use-case landscape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AI and Generative AI are complementary across the bank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2578608" cy="45262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00784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719072"/>
            <a:ext cx="1179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 OFFICE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0428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&amp; relationship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2491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/ service / advisory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3310128"/>
            <a:ext cx="214884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Next-best-action models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assist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summaries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Personalized content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3401568" y="1444752"/>
            <a:ext cx="2578608" cy="45262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4550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1700784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39312" y="1719072"/>
            <a:ext cx="1179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45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OFFICE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30428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&amp; control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72491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/ fraud / compliance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66160" y="3310128"/>
            <a:ext cx="214884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scoring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detection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AML investigation support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Q&amp;A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254496" y="1444752"/>
            <a:ext cx="2578608" cy="45262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29A36A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9088" y="1700784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1719072"/>
            <a:ext cx="1179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9A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 OFFICE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19088" y="230428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19088" y="272491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/ exceptions / workflows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19088" y="3310128"/>
            <a:ext cx="214884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extraction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KYC file summarization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triage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copilots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9107424" y="1444752"/>
            <a:ext cx="2578608" cy="45262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72016" y="1700784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EAF7F7"/>
          </a:solidFill>
          <a:ln w="12700">
            <a:solidFill>
              <a:srgbClr val="EAF7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45168" y="1719072"/>
            <a:ext cx="1179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272016" y="230428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&amp; technology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272016" y="272491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/ analytics / software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272016" y="3310128"/>
            <a:ext cx="214884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search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assistant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/ code generation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support copilots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3794760" y="6016752"/>
            <a:ext cx="4663440" cy="347472"/>
          </a:xfrm>
          <a:prstGeom prst="roundRect">
            <a:avLst>
              <a:gd name="adj" fmla="val 21053"/>
            </a:avLst>
          </a:prstGeom>
          <a:solidFill>
            <a:srgbClr val="EAF7F7"/>
          </a:solidFill>
          <a:ln w="12700">
            <a:solidFill>
              <a:srgbClr val="EAF7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867912" y="6035040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banking solutions combine predictive AI and GenAI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pattern: customer and employee assistance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is most valuable when it augments people with context, not when it replaces accountability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" y="1828800"/>
            <a:ext cx="2404872" cy="1508760"/>
          </a:xfrm>
          <a:prstGeom prst="roundRect">
            <a:avLst>
              <a:gd name="adj" fmla="val 4848"/>
            </a:avLst>
          </a:prstGeom>
          <a:solidFill>
            <a:srgbClr val="EAF0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029968"/>
            <a:ext cx="457200" cy="4572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9842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request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57860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Natural-language intent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3026664" y="2587752"/>
            <a:ext cx="320040" cy="0"/>
          </a:xfrm>
          <a:prstGeom prst="line">
            <a:avLst/>
          </a:prstGeom>
          <a:noFill/>
          <a:ln w="17780">
            <a:solidFill>
              <a:srgbClr val="AAB9C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10712" y="1828800"/>
            <a:ext cx="2404872" cy="1508760"/>
          </a:xfrm>
          <a:prstGeom prst="roundRect">
            <a:avLst>
              <a:gd name="adj" fmla="val 4848"/>
            </a:avLst>
          </a:prstGeom>
          <a:solidFill>
            <a:srgbClr val="EAF7F7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75304" y="2029968"/>
            <a:ext cx="457200" cy="45720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75304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142232" y="19842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75304" y="257860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Understands and structures the request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5815584" y="2587752"/>
            <a:ext cx="320040" cy="0"/>
          </a:xfrm>
          <a:prstGeom prst="line">
            <a:avLst/>
          </a:prstGeom>
          <a:noFill/>
          <a:ln w="17780">
            <a:solidFill>
              <a:srgbClr val="AAB9C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99632" y="1828800"/>
            <a:ext cx="2404872" cy="1508760"/>
          </a:xfrm>
          <a:prstGeom prst="roundRect">
            <a:avLst>
              <a:gd name="adj" fmla="val 4848"/>
            </a:avLst>
          </a:prstGeom>
          <a:solidFill>
            <a:srgbClr val="EAF7F0"/>
          </a:solidFill>
          <a:ln w="12700">
            <a:solidFill>
              <a:srgbClr val="29A3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64224" y="2029968"/>
            <a:ext cx="457200" cy="457200"/>
          </a:xfrm>
          <a:prstGeom prst="ellipse">
            <a:avLst/>
          </a:prstGeom>
          <a:solidFill>
            <a:srgbClr val="29A36A"/>
          </a:solidFill>
          <a:ln w="12700">
            <a:solidFill>
              <a:srgbClr val="29A3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4224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31152" y="19842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knowledge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64224" y="257860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Products, policies, procedures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8604504" y="2587752"/>
            <a:ext cx="320040" cy="0"/>
          </a:xfrm>
          <a:prstGeom prst="line">
            <a:avLst/>
          </a:prstGeom>
          <a:noFill/>
          <a:ln w="17780">
            <a:solidFill>
              <a:srgbClr val="AAB9C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88552" y="1828800"/>
            <a:ext cx="2404872" cy="1508760"/>
          </a:xfrm>
          <a:prstGeom prst="roundRect">
            <a:avLst>
              <a:gd name="adj" fmla="val 4848"/>
            </a:avLst>
          </a:prstGeom>
          <a:solidFill>
            <a:srgbClr val="FFF1EA"/>
          </a:solidFill>
          <a:ln w="12700">
            <a:solidFill>
              <a:srgbClr val="F47C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53144" y="2029968"/>
            <a:ext cx="457200" cy="457200"/>
          </a:xfrm>
          <a:prstGeom prst="ellipse">
            <a:avLst/>
          </a:prstGeom>
          <a:solidFill>
            <a:srgbClr val="F47C48"/>
          </a:solidFill>
          <a:ln w="12700">
            <a:solidFill>
              <a:srgbClr val="F47C4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53144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720072" y="19842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/ employee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153144" y="257860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Reviews, decides, communicates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822960" y="4069080"/>
            <a:ext cx="10424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1051560" y="43159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banking examples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246120" y="4251960"/>
            <a:ext cx="2880360" cy="347472"/>
          </a:xfrm>
          <a:prstGeom prst="roundRect">
            <a:avLst>
              <a:gd name="adj" fmla="val 21053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19272" y="4270248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Call-center agent assist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37960" y="4251960"/>
            <a:ext cx="2880360" cy="347472"/>
          </a:xfrm>
          <a:prstGeom prst="roundRect">
            <a:avLst>
              <a:gd name="adj" fmla="val 21053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11112" y="4270248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Relationship-manager briefing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46120" y="4782312"/>
            <a:ext cx="2880360" cy="347472"/>
          </a:xfrm>
          <a:prstGeom prst="roundRect">
            <a:avLst>
              <a:gd name="adj" fmla="val 21053"/>
            </a:avLst>
          </a:prstGeom>
          <a:solidFill>
            <a:srgbClr val="EAF7F7"/>
          </a:solidFill>
          <a:ln w="12700">
            <a:solidFill>
              <a:srgbClr val="EAF7F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19272" y="4800600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/ policy Q&amp;A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37960" y="4782312"/>
            <a:ext cx="2880360" cy="347472"/>
          </a:xfrm>
          <a:prstGeom prst="roundRect">
            <a:avLst>
              <a:gd name="adj" fmla="val 21053"/>
            </a:avLst>
          </a:prstGeom>
          <a:solidFill>
            <a:srgbClr val="EAF7F7"/>
          </a:solidFill>
          <a:ln w="12700">
            <a:solidFill>
              <a:srgbClr val="EAF7F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11112" y="4800600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and call summaries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pattern: document and operations intelligence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processes contain large volumes of semi-structured and unstructured information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395728" cy="1417320"/>
          </a:xfrm>
          <a:prstGeom prst="roundRect">
            <a:avLst>
              <a:gd name="adj" fmla="val 5161"/>
            </a:avLst>
          </a:prstGeom>
          <a:solidFill>
            <a:srgbClr val="EAF0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98424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file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4688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Forms, IDs, statements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3035808" y="2487168"/>
            <a:ext cx="329184" cy="0"/>
          </a:xfrm>
          <a:prstGeom prst="line">
            <a:avLst/>
          </a:prstGeom>
          <a:noFill/>
          <a:ln w="17780">
            <a:solidFill>
              <a:srgbClr val="AAB9C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29000" y="1783080"/>
            <a:ext cx="2395728" cy="1417320"/>
          </a:xfrm>
          <a:prstGeom prst="roundRect">
            <a:avLst>
              <a:gd name="adj" fmla="val 5161"/>
            </a:avLst>
          </a:prstGeom>
          <a:solidFill>
            <a:srgbClr val="EAF7F7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93592" y="198424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AI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4688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• extract • summarize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5824728" y="2487168"/>
            <a:ext cx="329184" cy="0"/>
          </a:xfrm>
          <a:prstGeom prst="line">
            <a:avLst/>
          </a:prstGeom>
          <a:noFill/>
          <a:ln w="17780">
            <a:solidFill>
              <a:srgbClr val="AAB9C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0" y="1783080"/>
            <a:ext cx="2395728" cy="1417320"/>
          </a:xfrm>
          <a:prstGeom prst="roundRect">
            <a:avLst>
              <a:gd name="adj" fmla="val 5161"/>
            </a:avLst>
          </a:prstGeom>
          <a:solidFill>
            <a:srgbClr val="FFF1EA"/>
          </a:solidFill>
          <a:ln w="12700">
            <a:solidFill>
              <a:srgbClr val="F47C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98424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rules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4688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required fields and policies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8613648" y="2487168"/>
            <a:ext cx="329184" cy="0"/>
          </a:xfrm>
          <a:prstGeom prst="line">
            <a:avLst/>
          </a:prstGeom>
          <a:noFill/>
          <a:ln w="17780">
            <a:solidFill>
              <a:srgbClr val="AAB9C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06840" y="1783080"/>
            <a:ext cx="2395728" cy="1417320"/>
          </a:xfrm>
          <a:prstGeom prst="roundRect">
            <a:avLst>
              <a:gd name="adj" fmla="val 5161"/>
            </a:avLst>
          </a:prstGeom>
          <a:solidFill>
            <a:srgbClr val="EAF7F0"/>
          </a:solidFill>
          <a:ln w="12700">
            <a:solidFill>
              <a:srgbClr val="29A3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71432" y="198424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71432" y="24688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exceptions and next actions</a:t>
            </a:r>
            <a:endParaRPr lang="en-US" sz="112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3703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High-value examples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3232" y="4114800"/>
            <a:ext cx="329184" cy="3291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0965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KYC / onboarding files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926080" y="40965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data, identify missing evidence, summarize exceptions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45352" y="4114800"/>
            <a:ext cx="329184" cy="32918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45352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40965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documentation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40965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covenants, compare terms, extract key clauses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3232" y="4864608"/>
            <a:ext cx="329184" cy="3291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3232" y="4864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4846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exceptions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2926080" y="4846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 free-text cases and propose next steps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45352" y="4864608"/>
            <a:ext cx="329184" cy="32918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45352" y="4864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720840" y="4846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Regulatory / internal policies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458200" y="4846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relevant passages and explain procedures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pattern: risk, compliance and fraud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predictive models for signals and GenAI for investigation support, evidence synthesis and communication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64792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9264" y="1783080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/ ANALYTICAL AI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3317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and prioritize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96112" y="2880360"/>
            <a:ext cx="448056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probability scoring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risk estimation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anomaly detection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risk segmentation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prioritization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54496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764792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EAF7F7"/>
          </a:solidFill>
          <a:ln w="12700">
            <a:solidFill>
              <a:srgbClr val="EAF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65392" y="1783080"/>
            <a:ext cx="1179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3317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Investigate and explain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92240" y="2880360"/>
            <a:ext cx="448056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alert evidence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case narratives for review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policies and procedures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documents and explanations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 analysts with structured investigation checklists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206240" y="5696712"/>
            <a:ext cx="3840480" cy="347472"/>
          </a:xfrm>
          <a:prstGeom prst="roundRect">
            <a:avLst>
              <a:gd name="adj" fmla="val 21053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79392" y="5715000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7C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decision authority remains explicit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pattern: technology and analytics productivity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copilots can compress cycle time — provided outputs remain reviewable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3232" y="1572768"/>
            <a:ext cx="5074920" cy="168249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73936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9264" y="1792224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810512" y="17373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analysis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26771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SQL, explain queries, summarize findings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8346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users: Analysts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6272784" y="1572768"/>
            <a:ext cx="5074920" cy="168249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55664" y="1773936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EAF7F7"/>
          </a:solidFill>
          <a:ln w="12700">
            <a:solidFill>
              <a:srgbClr val="EAF7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28816" y="1792224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370064" y="17373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engineering</a:t>
            </a:r>
            <a:endParaRPr lang="en-US" sz="175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226771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generation, tests, documentation, refactoring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55664" y="28346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users: Developers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713232" y="3630168"/>
            <a:ext cx="5074920" cy="168249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47C48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3831336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9264" y="3849624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7C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810512" y="37947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operations</a:t>
            </a:r>
            <a:endParaRPr lang="en-US" sz="175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432511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summaries, runbook assistance, ticket triage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48920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users: Operations teams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6272784" y="3630168"/>
            <a:ext cx="5074920" cy="168249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9A36A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55664" y="3831336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28816" y="3849624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9A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370064" y="37947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knowledge</a:t>
            </a:r>
            <a:endParaRPr lang="en-US" sz="1750" dirty="0"/>
          </a:p>
        </p:txBody>
      </p:sp>
      <p:sp>
        <p:nvSpPr>
          <p:cNvPr id="26" name="Text 24"/>
          <p:cNvSpPr txBox="1"/>
          <p:nvPr/>
        </p:nvSpPr>
        <p:spPr>
          <a:xfrm>
            <a:off x="6455664" y="432511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Search, compare and synthesize internal information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55664" y="48920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users: All knowledge workers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the right AI approach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from the business output you need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primary output?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3055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deterministic action?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98648" y="2331720"/>
            <a:ext cx="850392" cy="-704088"/>
          </a:xfrm>
          <a:prstGeom prst="line">
            <a:avLst/>
          </a:prstGeom>
          <a:noFill/>
          <a:ln w="25400">
            <a:solidFill>
              <a:srgbClr val="F47C4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98648" y="2331720"/>
            <a:ext cx="850392" cy="713232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71800" y="1609344"/>
            <a:ext cx="566928" cy="347472"/>
          </a:xfrm>
          <a:prstGeom prst="roundRect">
            <a:avLst>
              <a:gd name="adj" fmla="val 21053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44952" y="1627632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7C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71800" y="2907792"/>
            <a:ext cx="566928" cy="347472"/>
          </a:xfrm>
          <a:prstGeom prst="roundRect">
            <a:avLst>
              <a:gd name="adj" fmla="val 21053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44952" y="2926080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94760" y="1143000"/>
            <a:ext cx="2514600" cy="987552"/>
          </a:xfrm>
          <a:prstGeom prst="roundRect">
            <a:avLst>
              <a:gd name="adj" fmla="val 7407"/>
            </a:avLst>
          </a:prstGeom>
          <a:solidFill>
            <a:srgbClr val="FFF1EA"/>
          </a:solidFill>
          <a:ln w="12700">
            <a:solidFill>
              <a:srgbClr val="F47C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31920" y="138988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Rule-based automation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94760" y="2670048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69080" y="291693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prediction / score?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3127248"/>
            <a:ext cx="850392" cy="-658368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09360" y="3127248"/>
            <a:ext cx="850392" cy="694944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82512" y="2386584"/>
            <a:ext cx="566928" cy="347472"/>
          </a:xfrm>
          <a:prstGeom prst="roundRect">
            <a:avLst>
              <a:gd name="adj" fmla="val 21053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55664" y="2404872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82512" y="3675888"/>
            <a:ext cx="566928" cy="347472"/>
          </a:xfrm>
          <a:prstGeom prst="roundRect">
            <a:avLst>
              <a:gd name="adj" fmla="val 21053"/>
            </a:avLst>
          </a:prstGeom>
          <a:solidFill>
            <a:srgbClr val="EAF7F7"/>
          </a:solidFill>
          <a:ln w="12700">
            <a:solidFill>
              <a:srgbClr val="EAF7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55664" y="3694176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05472" y="1956816"/>
            <a:ext cx="2651760" cy="987552"/>
          </a:xfrm>
          <a:prstGeom prst="roundRect">
            <a:avLst>
              <a:gd name="adj" fmla="val 7407"/>
            </a:avLst>
          </a:prstGeom>
          <a:solidFill>
            <a:srgbClr val="EAF0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88352" y="22219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05472" y="3438144"/>
            <a:ext cx="26517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88352" y="36850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/ language task?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857232" y="3922776"/>
            <a:ext cx="630936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84664" y="3456432"/>
            <a:ext cx="566928" cy="347472"/>
          </a:xfrm>
          <a:prstGeom prst="roundRect">
            <a:avLst>
              <a:gd name="adj" fmla="val 21053"/>
            </a:avLst>
          </a:prstGeom>
          <a:solidFill>
            <a:srgbClr val="EAF7F7"/>
          </a:solidFill>
          <a:ln w="12700">
            <a:solidFill>
              <a:srgbClr val="EAF7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57816" y="3474720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515600" y="3419856"/>
            <a:ext cx="1051560" cy="1024128"/>
          </a:xfrm>
          <a:prstGeom prst="roundRect">
            <a:avLst>
              <a:gd name="adj" fmla="val 7143"/>
            </a:avLst>
          </a:prstGeom>
          <a:solidFill>
            <a:srgbClr val="EAF7F7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579608" y="3694176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14400" y="4983480"/>
            <a:ext cx="10332720" cy="841248"/>
          </a:xfrm>
          <a:prstGeom prst="roundRect">
            <a:avLst>
              <a:gd name="adj" fmla="val 8696"/>
            </a:avLst>
          </a:prstGeom>
          <a:solidFill>
            <a:srgbClr val="EAF7F0"/>
          </a:solidFill>
          <a:ln w="12700">
            <a:solidFill>
              <a:srgbClr val="29A36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88720" y="5248656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enterprise solutions are hybrid: rules + ML signals + GenAI interface + retrieval / tools + human controls.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enterprise GenAI architecture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one component inside a governed banking solution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78992" y="1417320"/>
            <a:ext cx="10012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98448" y="15270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channels</a:t>
            </a:r>
            <a:endParaRPr lang="en-US" sz="126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15270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 • customer channels • apps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078992" y="2167128"/>
            <a:ext cx="10012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3AC6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98448" y="227685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3AC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application layer</a:t>
            </a:r>
            <a:endParaRPr lang="en-US" sz="126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227685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Prompting • orchestration • workflow • agents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78992" y="2916936"/>
            <a:ext cx="10012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98448" y="30266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 &amp; tools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302666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• search • APIs • databases • calculations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78992" y="3666744"/>
            <a:ext cx="10012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29A3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98448" y="3776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9A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layer</a:t>
            </a:r>
            <a:endParaRPr lang="en-US" sz="126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37764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models • predictive ML models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78992" y="4416552"/>
            <a:ext cx="10012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47C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98448" y="45262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47C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data</a:t>
            </a:r>
            <a:endParaRPr lang="en-US" sz="1260" dirty="0"/>
          </a:p>
        </p:txBody>
      </p:sp>
      <p:sp>
        <p:nvSpPr>
          <p:cNvPr id="18" name="Text 16"/>
          <p:cNvSpPr txBox="1"/>
          <p:nvPr/>
        </p:nvSpPr>
        <p:spPr>
          <a:xfrm>
            <a:off x="3154680" y="4526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 • documents • transactions • metadata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78992" y="5166360"/>
            <a:ext cx="10012680" cy="566928"/>
          </a:xfrm>
          <a:prstGeom prst="roundRect">
            <a:avLst>
              <a:gd name="adj" fmla="val 12903"/>
            </a:avLst>
          </a:prstGeom>
          <a:solidFill>
            <a:srgbClr val="FDEEEF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98448" y="5276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D645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across all layers</a:t>
            </a:r>
            <a:endParaRPr lang="en-US" sz="126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52760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• permissions • logging • evaluation • human oversight • monitoring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6053328"/>
            <a:ext cx="1001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principle: separate business logic, enterprise knowledge, model choice and controls so each can evolve independently.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PoC to production: five questions to answer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demo is not yet an enterprise capability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975104" cy="29260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64792"/>
            <a:ext cx="438912" cy="43891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957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52928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measurable business outcome improves?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2907792" y="1572768"/>
            <a:ext cx="1975104" cy="29260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44952" y="1764792"/>
            <a:ext cx="438912" cy="43891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4495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044952" y="23957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044952" y="2852928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GenAI actually better than rules or predictive ML?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175504" y="1572768"/>
            <a:ext cx="1975104" cy="29260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29A36A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12664" y="1764792"/>
            <a:ext cx="438912" cy="438912"/>
          </a:xfrm>
          <a:prstGeom prst="ellipse">
            <a:avLst/>
          </a:prstGeom>
          <a:solidFill>
            <a:srgbClr val="29A36A"/>
          </a:solidFill>
          <a:ln w="12700">
            <a:solidFill>
              <a:srgbClr val="29A3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1266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312664" y="23957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312664" y="2852928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context can the solution access, and under which permissions?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7443216" y="1572768"/>
            <a:ext cx="1975104" cy="29260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47C48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0376" y="1764792"/>
            <a:ext cx="438912" cy="438912"/>
          </a:xfrm>
          <a:prstGeom prst="ellipse">
            <a:avLst/>
          </a:prstGeom>
          <a:solidFill>
            <a:srgbClr val="F47C48"/>
          </a:solidFill>
          <a:ln w="12700">
            <a:solidFill>
              <a:srgbClr val="F47C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0376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580376" y="23957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580376" y="2852928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can go wrong, and where is human review required?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9710928" y="1572768"/>
            <a:ext cx="1975104" cy="29260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64550"/>
            </a:solidFill>
            <a:prstDash val="solid"/>
          </a:ln>
          <a:effectLst>
            <a:outerShdw sx="100000" sy="100000" kx="0" ky="0" algn="bl" rotWithShape="0" blurRad="19050" dist="50800" dir="2700000">
              <a:srgbClr val="9BA8B5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48088" y="1764792"/>
            <a:ext cx="438912" cy="438912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48088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48088" y="23957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848088" y="2852928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will we evaluate, monitor and update the system?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914400" y="4983480"/>
            <a:ext cx="10378440" cy="868680"/>
          </a:xfrm>
          <a:prstGeom prst="roundRect">
            <a:avLst>
              <a:gd name="adj" fmla="val 8421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43000" y="52212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C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788920" y="5120640"/>
            <a:ext cx="8092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a portfolio of techniques. Generative AI expands what can be automated and assisted — especially around language and knowledge — but value comes from the full system around the model.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7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and Generative AI Fundamentals</dc:title>
  <dc:subject>AI and Generative AI Fundamentals for Banking</dc:subject>
  <dc:creator>OpenAI</dc:creator>
  <cp:lastModifiedBy>OpenAI</cp:lastModifiedBy>
  <cp:revision>1</cp:revision>
  <dcterms:created xsi:type="dcterms:W3CDTF">2026-09-26T18:10:55Z</dcterms:created>
  <dcterms:modified xsi:type="dcterms:W3CDTF">2026-09-26T18:10:55Z</dcterms:modified>
</cp:coreProperties>
</file>